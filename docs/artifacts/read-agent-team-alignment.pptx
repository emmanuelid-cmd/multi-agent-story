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15"/>
  </p:notesMasterIdLst>
  <p:sldIdLst>
    <p:sldId id="322" r:id="rId2"/>
    <p:sldId id="356" r:id="rId3"/>
    <p:sldId id="376" r:id="rId4"/>
    <p:sldId id="382" r:id="rId5"/>
    <p:sldId id="337" r:id="rId6"/>
    <p:sldId id="338" r:id="rId7"/>
    <p:sldId id="380" r:id="rId8"/>
    <p:sldId id="381" r:id="rId9"/>
    <p:sldId id="303" r:id="rId10"/>
    <p:sldId id="320" r:id="rId11"/>
    <p:sldId id="357" r:id="rId12"/>
    <p:sldId id="289" r:id="rId13"/>
    <p:sldId id="392" r:id="rId14"/>
  </p:sldIdLst>
  <p:sldSz cx="12192000" cy="6858000"/>
  <p:notesSz cx="6858000" cy="9144000"/>
  <p:embeddedFontLst>
    <p:embeddedFont>
      <p:font typeface="Inter" panose="020B0604020202020204" charset="0"/>
      <p:regular r:id="rId16"/>
      <p:bold r:id="rId17"/>
    </p:embeddedFont>
    <p:embeddedFont>
      <p:font typeface="Inter Medium" panose="020B0604020202020204" charset="0"/>
      <p:regular r:id="rId18"/>
    </p:embeddedFont>
    <p:embeddedFont>
      <p:font typeface="Inter SemiBold" panose="020B0604020202020204" charset="0"/>
      <p:regular r:id="rId19"/>
      <p:bold r:id="rId20"/>
    </p:embeddedFont>
    <p:embeddedFont>
      <p:font typeface="OpenAI Sans" panose="020B060402020202020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7"/>
    <p:restoredTop sz="92758"/>
  </p:normalViewPr>
  <p:slideViewPr>
    <p:cSldViewPr snapToGrid="0">
      <p:cViewPr>
        <p:scale>
          <a:sx n="50" d="100"/>
          <a:sy n="50" d="100"/>
        </p:scale>
        <p:origin x="952" y="2120"/>
      </p:cViewPr>
      <p:guideLst/>
    </p:cSldViewPr>
  </p:slideViewPr>
  <p:outlineViewPr>
    <p:cViewPr>
      <p:scale>
        <a:sx n="33" d="100"/>
        <a:sy n="33" d="100"/>
      </p:scale>
      <p:origin x="0" y="-299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C29E5-F646-1C4E-9C79-40608B34D03C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AA0A2-FFE2-354C-9768-C35E42B62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76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6F112-4F51-D47F-27B2-C13AF523E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A57384-4F7C-B584-4D33-A8D94A2E2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BFBEE6-1E45-94C3-9B9D-0BB63D3E2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Sources: docs/prd/drafts/PRD-v3-draft.md, especially sections 3 and 5-6. Runtime evidence: .tools/agent-runs/14b1dda7-4edc-45e1-a641-38db38a2e0f5/report.json. READ model: claude-haiku-5-5. NYT/Gutendex and WRITE connectors: fixtures. The web workspace is still fixture-backed.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FDEFA-3F44-00F0-3BDC-052510A932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AAA0A2-FFE2-354C-9768-C35E42B6251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7485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Sources: docs/prd/drafts/PRD-v3-draft.md, especially sections 3 and 5-6. Runtime evidence: .tools/agent-runs/14b1dda7-4edc-45e1-a641-38db38a2e0f5/report.json. READ model: claude-haiku-5-5. NYT/Gutendex and WRITE connectors: fixtures. The web workspace is still fixture-backed.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933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8F89ECF8-8824-6720-A5F2-1B2A6FD29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B4658B80-89F4-F5BF-B95D-D621BFBA55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7EF2BB7B-24EA-6804-B96F-C5BDDD00B8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4213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DE808DF6-2BA4-D3A8-6F87-194045E9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C39EB48D-4A60-2E18-7780-6115378008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716F1AE1-7020-BF2F-04C0-32FB7980E3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401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Sources: docs/prd/drafts/PRD-v3-draft.md, especially sections 3 and 5-6. Runtime evidence: .tools/agent-runs/14b1dda7-4edc-45e1-a641-38db38a2e0f5/report.json. READ model: claude-haiku-5-5. NYT/Gutendex and WRITE connectors: fixtures. The web workspace is still fixture-backed.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744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Sources: docs/prd/drafts/PRD-v3-draft.md, especially sections 3 and 5-6. Runtime evidence: .tools/agent-runs/14b1dda7-4edc-45e1-a641-38db38a2e0f5/report.json. READ model: claude-haiku-5-5. NYT/Gutendex and WRITE connectors: fixtures. The web workspace is still fixture-backed.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49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60CE2AA9-1874-036A-44E5-EECCCF411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9C61A8DE-700A-3E09-7BFA-942599A37A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31654C7C-4234-E662-B28E-10CE527826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9151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31A631B4-9B88-69AC-1EB2-AA2DA50A1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53FA28B5-9E88-8FB0-AF67-B408863FF3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65643A63-0A69-219B-9351-879FBF50E8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7566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Sources: docs/prd/drafts/PRD-v3-draft.md, especially sections 3 and 5-6. Runtime evidence: .tools/agent-runs/14b1dda7-4edc-45e1-a641-38db38a2e0f5/report.json. READ model: claude-haiku-5-5. NYT/Gutendex and WRITE connectors: fixtures. The web workspace is still fixture-backed.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9826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Sources: docs/prd/drafts/PRD-v3-draft.md, especially sections 3 and 5-6. Runtime evidence: .tools/agent-runs/14b1dda7-4edc-45e1-a641-38db38a2e0f5/report.json. READ model: claude-haiku-5-5. NYT/Gutendex and WRITE connectors: fixtures. The web workspace is still fixture-backed.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0232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F8158398-2203-4012-AE47-AE04A69E5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B6223876-1C07-B925-C295-6FDF25B0D0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EBEB7F95-8BA0-B32F-08B7-3E3ED03D6A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13554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214345a3b1_9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214345a3b1_9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53515-AEAD-311B-78E4-6D5875AE2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91FC9D-5E62-0724-D6EE-5C3ABF87D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B7A72-5408-53F3-FE5D-1816D6E5A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Sources: docs/prd/drafts/PRD-v3-draft.md, especially sections 3 and 5-6. Runtime evidence: .tools/agent-runs/14b1dda7-4edc-45e1-a641-38db38a2e0f5/report.json. READ model: claude-haiku-5-5. NYT/Gutendex and WRITE connectors: fixtures. The web workspace is still fixture-backed.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7A72C-BD2D-D4E6-5489-18B3147C5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AAA0A2-FFE2-354C-9768-C35E42B6251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2079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defRPr sz="6000"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148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335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732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001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4826000"/>
            <a:ext cx="2595934" cy="1168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952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66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4826000"/>
            <a:ext cx="2595934" cy="1168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5679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97124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410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56794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548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 Field Gri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859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 Field Gri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799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8185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9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 panose="02000503000000020004" pitchFamily="2" charset="0"/>
          <a:ea typeface="Inter Medium" panose="02000503000000020004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496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3.xml"/><Relationship Id="rId7" Type="http://schemas.openxmlformats.org/officeDocument/2006/relationships/slide" Target="slide1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slide" Target="slide8.xml"/><Relationship Id="rId5" Type="http://schemas.openxmlformats.org/officeDocument/2006/relationships/slide" Target="slide6.xml"/><Relationship Id="rId10" Type="http://schemas.openxmlformats.org/officeDocument/2006/relationships/slide" Target="slide2.xml"/><Relationship Id="rId4" Type="http://schemas.openxmlformats.org/officeDocument/2006/relationships/slide" Target="slide5.xml"/><Relationship Id="rId9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0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0.xml"/><Relationship Id="rId5" Type="http://schemas.openxmlformats.org/officeDocument/2006/relationships/slide" Target="slide5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0.xml"/><Relationship Id="rId5" Type="http://schemas.openxmlformats.org/officeDocument/2006/relationships/slide" Target="slide6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0.xml"/><Relationship Id="rId5" Type="http://schemas.openxmlformats.org/officeDocument/2006/relationships/slide" Target="slide7.xml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0.xml"/><Relationship Id="rId5" Type="http://schemas.openxmlformats.org/officeDocument/2006/relationships/slide" Target="slide8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slide" Target="slide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slide" Target="slide6.xml"/><Relationship Id="rId5" Type="http://schemas.openxmlformats.org/officeDocument/2006/relationships/slide" Target="slide10.xml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4.xml"/><Relationship Id="rId7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slide" Target="slide9.xml"/><Relationship Id="rId5" Type="http://schemas.openxmlformats.org/officeDocument/2006/relationships/slide" Target="slide8.xml"/><Relationship Id="rId4" Type="http://schemas.openxmlformats.org/officeDocument/2006/relationships/slide" Target="slid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2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slide" Target="slide13.xml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slide" Target="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AD agents and handoffs">
    <p:spTree>
      <p:nvGrpSpPr>
        <p:cNvPr id="1" name="">
          <a:extLst>
            <a:ext uri="{FF2B5EF4-FFF2-40B4-BE49-F238E27FC236}">
              <a16:creationId xmlns:a16="http://schemas.microsoft.com/office/drawing/2014/main" id="{3C11FE52-8A32-33DB-13AB-B36BB17A7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324DD7-B2A7-C70F-0160-11F227D46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6339" y="449662"/>
            <a:ext cx="6730425" cy="2401447"/>
          </a:xfrm>
        </p:spPr>
        <p:txBody>
          <a:bodyPr anchor="b">
            <a:noAutofit/>
          </a:bodyPr>
          <a:lstStyle/>
          <a:p>
            <a:r>
              <a:rPr lang="en-US" sz="7200">
                <a:solidFill>
                  <a:schemeClr val="accent6">
                    <a:lumMod val="75000"/>
                  </a:schemeClr>
                </a:solidFill>
                <a:latin typeface="Inter SemiBold" panose="020B0604020202020204" charset="0"/>
              </a:rPr>
              <a:t>READ agents</a:t>
            </a:r>
            <a:br>
              <a:rPr lang="en-US" sz="7200">
                <a:solidFill>
                  <a:schemeClr val="accent6">
                    <a:lumMod val="75000"/>
                  </a:schemeClr>
                </a:solidFill>
                <a:latin typeface="Inter SemiBold" panose="020B0604020202020204" charset="0"/>
              </a:rPr>
            </a:br>
            <a:r>
              <a:rPr lang="en-US" sz="7200">
                <a:solidFill>
                  <a:schemeClr val="accent6">
                    <a:lumMod val="75000"/>
                  </a:schemeClr>
                </a:solidFill>
                <a:latin typeface="Inter SemiBold" panose="020B0604020202020204" charset="0"/>
              </a:rPr>
              <a:t>&amp; handoffs</a:t>
            </a:r>
            <a:endParaRPr lang="en-US" sz="7200" dirty="0">
              <a:solidFill>
                <a:schemeClr val="accent6">
                  <a:lumMod val="75000"/>
                </a:schemeClr>
              </a:solidFill>
              <a:latin typeface="Inter SemiBold" panose="020B060402020202020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3501A55-18E1-9822-7454-1E3D85380D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669" y="3564938"/>
            <a:ext cx="3758374" cy="614676"/>
          </a:xfrm>
        </p:spPr>
        <p:txBody>
          <a:bodyPr>
            <a:noAutofit/>
          </a:bodyPr>
          <a:lstStyle/>
          <a:p>
            <a:r>
              <a:rPr lang="en-US" sz="1800">
                <a:latin typeface="Inter" panose="020B0604020202020204" charset="0"/>
              </a:rPr>
              <a:t>Manny READ / Justin WRITE</a:t>
            </a:r>
          </a:p>
          <a:p>
            <a:r>
              <a:rPr lang="en-US" sz="1800">
                <a:latin typeface="Inter" panose="020B0604020202020204" charset="0"/>
              </a:rPr>
              <a:t>PRD v3 / verified run</a:t>
            </a:r>
            <a:endParaRPr lang="en-US" sz="1800" dirty="0">
              <a:latin typeface="Inter" panose="020B060402020202020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FCE418-C2ED-AF3C-5751-7E60608449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645" b="61469"/>
          <a:stretch>
            <a:fillRect/>
          </a:stretch>
        </p:blipFill>
        <p:spPr>
          <a:xfrm>
            <a:off x="0" y="4763386"/>
            <a:ext cx="12190542" cy="2094614"/>
          </a:xfrm>
          <a:prstGeom prst="rect">
            <a:avLst/>
          </a:prstGeom>
        </p:spPr>
      </p:pic>
      <p:sp>
        <p:nvSpPr>
          <p:cNvPr id="2" name="Navigation Handoff map">
            <a:hlinkClick r:id="rId4" action="ppaction://hlinksldjump"/>
            <a:extLst>
              <a:ext uri="{FF2B5EF4-FFF2-40B4-BE49-F238E27FC236}">
                <a16:creationId xmlns:a16="http://schemas.microsoft.com/office/drawing/2014/main" id="{901D8646-A8F7-19CC-C44A-91E8BA04A0FF}"/>
              </a:ext>
            </a:extLst>
          </p:cNvPr>
          <p:cNvSpPr txBox="1"/>
          <p:nvPr/>
        </p:nvSpPr>
        <p:spPr>
          <a:xfrm>
            <a:off x="1524000" y="6261100"/>
            <a:ext cx="12700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Handoff map</a:t>
            </a:r>
          </a:p>
        </p:txBody>
      </p:sp>
      <p:sp>
        <p:nvSpPr>
          <p:cNvPr id="6" name="Navigation Next handoff">
            <a:hlinkClick r:id="rId4" action="ppaction://hlinksldjump"/>
            <a:extLst>
              <a:ext uri="{FF2B5EF4-FFF2-40B4-BE49-F238E27FC236}">
                <a16:creationId xmlns:a16="http://schemas.microsoft.com/office/drawing/2014/main" id="{B7F74225-116F-6AC7-F0E4-64DCD70D001A}"/>
              </a:ext>
            </a:extLst>
          </p:cNvPr>
          <p:cNvSpPr txBox="1"/>
          <p:nvPr/>
        </p:nvSpPr>
        <p:spPr>
          <a:xfrm>
            <a:off x="2984500" y="6261100"/>
            <a:ext cx="13335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Next handoff</a:t>
            </a:r>
          </a:p>
        </p:txBody>
      </p:sp>
    </p:spTree>
    <p:extLst>
      <p:ext uri="{BB962C8B-B14F-4D97-AF65-F5344CB8AC3E}">
        <p14:creationId xmlns:p14="http://schemas.microsoft.com/office/powerpoint/2010/main" val="3312496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teractive handoff map">
    <p:spTree>
      <p:nvGrpSpPr>
        <p:cNvPr id="1" name="">
          <a:extLst>
            <a:ext uri="{FF2B5EF4-FFF2-40B4-BE49-F238E27FC236}">
              <a16:creationId xmlns:a16="http://schemas.microsoft.com/office/drawing/2014/main" id="{8CABCF89-6B3E-13C3-5860-10A5B4F64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tIns="0" bIns="0"/>
          <a:lstStyle/>
          <a:p>
            <a:r>
              <a:rPr lang="en">
                <a:latin typeface="Inter" panose="020B0604020202020204" charset="0"/>
              </a:rPr>
              <a:t>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883398"/>
            <a:ext cx="7835900" cy="635159"/>
          </a:xfrm>
        </p:spPr>
        <p:txBody>
          <a:bodyPr>
            <a:normAutofit/>
          </a:bodyPr>
          <a:lstStyle/>
          <a:p>
            <a:r>
              <a:rPr lang="en-US">
                <a:latin typeface="Inter Medium" panose="020B0604020202020204" charset="0"/>
              </a:rPr>
              <a:t>The interactive handoff map</a:t>
            </a:r>
            <a:endParaRPr lang="en-US" dirty="0">
              <a:latin typeface="Inter Medium" panose="020B060402020202020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8CD771-F7CC-8D28-8ED8-48ACE9DA4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580500"/>
              </p:ext>
            </p:extLst>
          </p:nvPr>
        </p:nvGraphicFramePr>
        <p:xfrm>
          <a:off x="393700" y="1689098"/>
          <a:ext cx="11404600" cy="430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>
                  <a:extLst>
                    <a:ext uri="{9D8B030D-6E8A-4147-A177-3AD203B41FA5}">
                      <a16:colId xmlns:a16="http://schemas.microsoft.com/office/drawing/2014/main" val="1631070132"/>
                    </a:ext>
                  </a:extLst>
                </a:gridCol>
                <a:gridCol w="10526091">
                  <a:extLst>
                    <a:ext uri="{9D8B030D-6E8A-4147-A177-3AD203B41FA5}">
                      <a16:colId xmlns:a16="http://schemas.microsoft.com/office/drawing/2014/main" val="1616312772"/>
                    </a:ext>
                  </a:extLst>
                </a:gridCol>
              </a:tblGrid>
              <a:tr h="7175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Inter Medium" panose="02000503000000020004" pitchFamily="2" charset="0"/>
                          <a:ea typeface="Inter Medium" panose="02000503000000020004" pitchFamily="2" charset="0"/>
                          <a:cs typeface="+mn-cs"/>
                        </a:rPr>
                        <a:t>01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nter Medium" panose="020B0604020202020204" charset="0"/>
                          <a:ea typeface="Inter Medium" panose="02000503000000020004" pitchFamily="2" charset="0"/>
                          <a:cs typeface="+mn-cs"/>
                          <a:hlinkClick r:id="rId3" action="ppaction://hlinksldjump"/>
                        </a:rPr>
                        <a:t>Writer input and Research</a:t>
                      </a:r>
                      <a:endParaRPr kumimoji="0" lang="en-US" sz="2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Inter Medium" panose="020B0604020202020204" charset="0"/>
                        <a:ea typeface="Inter Medium" panose="02000503000000020004" pitchFamily="2" charset="0"/>
                        <a:cs typeface="+mn-cs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842163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Inter Medium" panose="02000503000000020004" pitchFamily="2" charset="0"/>
                          <a:ea typeface="Inter Medium" panose="02000503000000020004" pitchFamily="2" charset="0"/>
                          <a:cs typeface="+mn-cs"/>
                        </a:rPr>
                        <a:t>02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nter Medium" panose="020B0604020202020204" charset="0"/>
                          <a:ea typeface="Inter Medium" panose="02000503000000020004" pitchFamily="2" charset="0"/>
                          <a:cs typeface="+mn-cs"/>
                          <a:hlinkClick r:id="rId4" action="ppaction://hlinksldjump"/>
                        </a:rPr>
                        <a:t>Planning and the chapter barrier</a:t>
                      </a:r>
                      <a:endParaRPr kumimoji="0" lang="en-US" sz="2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Inter Medium" panose="020B0604020202020204" charset="0"/>
                        <a:ea typeface="Inter Medium" panose="02000503000000020004" pitchFamily="2" charset="0"/>
                        <a:cs typeface="+mn-cs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605887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Inter Medium" panose="02000503000000020004" pitchFamily="2" charset="0"/>
                          <a:ea typeface="Inter Medium" panose="02000503000000020004" pitchFamily="2" charset="0"/>
                          <a:cs typeface="+mn-cs"/>
                        </a:rPr>
                        <a:t>03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nter Medium" panose="020B0604020202020204" charset="0"/>
                          <a:ea typeface="Inter Medium" panose="02000503000000020004" pitchFamily="2" charset="0"/>
                          <a:cs typeface="+mn-cs"/>
                          <a:hlinkClick r:id="rId5" action="ppaction://hlinksldjump"/>
                        </a:rPr>
                        <a:t>Reader and both Editors</a:t>
                      </a:r>
                      <a:endParaRPr kumimoji="0" lang="en-US" sz="2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Inter Medium" panose="020B0604020202020204" charset="0"/>
                        <a:ea typeface="Inter Medium" panose="02000503000000020004" pitchFamily="2" charset="0"/>
                        <a:cs typeface="+mn-cs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02002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Inter Medium" panose="02000503000000020004" pitchFamily="2" charset="0"/>
                          <a:ea typeface="Inter Medium" panose="02000503000000020004" pitchFamily="2" charset="0"/>
                          <a:cs typeface="+mn-cs"/>
                        </a:rPr>
                        <a:t>04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nter Medium" panose="020B0604020202020204" charset="0"/>
                          <a:ea typeface="Inter Medium" panose="02000503000000020004" pitchFamily="2" charset="0"/>
                          <a:cs typeface="+mn-cs"/>
                          <a:hlinkClick r:id="rId6" action="ppaction://hlinksldjump"/>
                        </a:rPr>
                        <a:t>Consistency and human review</a:t>
                      </a:r>
                      <a:endParaRPr kumimoji="0" lang="en-US" sz="2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Inter Medium" panose="020B0604020202020204" charset="0"/>
                        <a:ea typeface="Inter Medium" panose="02000503000000020004" pitchFamily="2" charset="0"/>
                        <a:cs typeface="+mn-cs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852306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Inter Medium" panose="02000503000000020004" pitchFamily="2" charset="0"/>
                          <a:ea typeface="Inter Medium" panose="02000503000000020004" pitchFamily="2" charset="0"/>
                          <a:cs typeface="+mn-cs"/>
                        </a:rPr>
                        <a:t>05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nter Medium" panose="020B0604020202020204" charset="0"/>
                          <a:ea typeface="Inter Medium" panose="02000503000000020004" pitchFamily="2" charset="0"/>
                          <a:cs typeface="+mn-cs"/>
                          <a:hlinkClick r:id="rId7" action="ppaction://hlinksldjump"/>
                        </a:rPr>
                        <a:t>Failure and recovery routes</a:t>
                      </a:r>
                      <a:endParaRPr kumimoji="0" lang="en-US" sz="2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Inter Medium" panose="020B0604020202020204" charset="0"/>
                        <a:ea typeface="Inter Medium" panose="02000503000000020004" pitchFamily="2" charset="0"/>
                        <a:cs typeface="+mn-cs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140170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Inter Medium" panose="02000503000000020004" pitchFamily="2" charset="0"/>
                          <a:ea typeface="Inter Medium" panose="02000503000000020004" pitchFamily="2" charset="0"/>
                          <a:cs typeface="+mn-cs"/>
                        </a:rPr>
                        <a:t>06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nter Medium" panose="020B0604020202020204" charset="0"/>
                          <a:ea typeface="Inter Medium" panose="02000503000000020004" pitchFamily="2" charset="0"/>
                          <a:cs typeface="+mn-cs"/>
                          <a:hlinkClick r:id="rId8" action="ppaction://hlinksldjump"/>
                        </a:rPr>
                        <a:t>Verified run and team boundaries</a:t>
                      </a:r>
                      <a:endParaRPr kumimoji="0" lang="en-US" sz="2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Inter Medium" panose="020B0604020202020204" charset="0"/>
                        <a:ea typeface="Inter Medium" panose="02000503000000020004" pitchFamily="2" charset="0"/>
                        <a:cs typeface="+mn-cs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914960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6" name="Navigation Previous">
            <a:hlinkClick r:id="rId9" action="ppaction://hlinksldjump"/>
            <a:extLst>
              <a:ext uri="{FF2B5EF4-FFF2-40B4-BE49-F238E27FC236}">
                <a16:creationId xmlns:a16="http://schemas.microsoft.com/office/drawing/2014/main" id="{AC12D21C-B931-A6F8-F27C-64D4AA36A47F}"/>
              </a:ext>
            </a:extLst>
          </p:cNvPr>
          <p:cNvSpPr txBox="1"/>
          <p:nvPr/>
        </p:nvSpPr>
        <p:spPr>
          <a:xfrm>
            <a:off x="393700" y="6261100"/>
            <a:ext cx="9398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Previous</a:t>
            </a:r>
          </a:p>
        </p:txBody>
      </p:sp>
      <p:sp>
        <p:nvSpPr>
          <p:cNvPr id="7" name="Navigation Handoff map">
            <a:hlinkClick r:id="rId10" action="ppaction://hlinksldjump"/>
            <a:extLst>
              <a:ext uri="{FF2B5EF4-FFF2-40B4-BE49-F238E27FC236}">
                <a16:creationId xmlns:a16="http://schemas.microsoft.com/office/drawing/2014/main" id="{EACBC4AA-B01D-DD09-D1D2-AF7D8F853CCC}"/>
              </a:ext>
            </a:extLst>
          </p:cNvPr>
          <p:cNvSpPr txBox="1"/>
          <p:nvPr/>
        </p:nvSpPr>
        <p:spPr>
          <a:xfrm>
            <a:off x="1524000" y="6261100"/>
            <a:ext cx="12700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Handoff map</a:t>
            </a:r>
          </a:p>
        </p:txBody>
      </p:sp>
      <p:sp>
        <p:nvSpPr>
          <p:cNvPr id="8" name="Navigation Next handoff">
            <a:hlinkClick r:id="rId3" action="ppaction://hlinksldjump"/>
            <a:extLst>
              <a:ext uri="{FF2B5EF4-FFF2-40B4-BE49-F238E27FC236}">
                <a16:creationId xmlns:a16="http://schemas.microsoft.com/office/drawing/2014/main" id="{EA31B195-C357-5683-0EE9-6001FADF71CB}"/>
              </a:ext>
            </a:extLst>
          </p:cNvPr>
          <p:cNvSpPr txBox="1"/>
          <p:nvPr/>
        </p:nvSpPr>
        <p:spPr>
          <a:xfrm>
            <a:off x="2984500" y="6261100"/>
            <a:ext cx="13335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Next handoff</a:t>
            </a:r>
          </a:p>
        </p:txBody>
      </p:sp>
    </p:spTree>
    <p:extLst>
      <p:ext uri="{BB962C8B-B14F-4D97-AF65-F5344CB8AC3E}">
        <p14:creationId xmlns:p14="http://schemas.microsoft.com/office/powerpoint/2010/main" val="2915877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riter input">
    <p:spTree>
      <p:nvGrpSpPr>
        <p:cNvPr id="1" name="Shape 531">
          <a:extLst>
            <a:ext uri="{FF2B5EF4-FFF2-40B4-BE49-F238E27FC236}">
              <a16:creationId xmlns:a16="http://schemas.microsoft.com/office/drawing/2014/main" id="{DF0CDD53-1B07-DB60-0CAA-C14CF077A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93700" y="1722684"/>
            <a:ext cx="5537200" cy="86542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Save now. Confirm choices.</a:t>
            </a:r>
            <a:endParaRPr dirty="0">
              <a:latin typeface="Inter" panose="020B0604020202020204" charset="0"/>
              <a:ea typeface="Inter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3</a:t>
            </a:fld>
            <a:endParaRPr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7835900" cy="104029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>
                <a:latin typeface="Inter Medium" panose="020B0604020202020204" charset="0"/>
              </a:rPr>
              <a:t>Writer input before research</a:t>
            </a:r>
            <a:endParaRPr dirty="0">
              <a:latin typeface="Inter Medium" panose="020B0604020202020204" charset="0"/>
            </a:endParaRPr>
          </a:p>
        </p:txBody>
      </p:sp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 txBox="1">
            <a:spLocks/>
          </p:cNvSpPr>
          <p:nvPr/>
        </p:nvSpPr>
        <p:spPr>
          <a:xfrm>
            <a:off x="7886700" y="2990317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>
                <a:solidFill>
                  <a:prstClr val="black"/>
                </a:solidFill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Keep the original input</a:t>
            </a:r>
            <a:endParaRPr lang="en-US" sz="1600" dirty="0">
              <a:solidFill>
                <a:prstClr val="black"/>
              </a:solidFill>
              <a:latin typeface="Inter" panose="020B0604020202020204" charset="0"/>
              <a:ea typeface="Inter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3" name="Google Shape;340;p61">
            <a:extLst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/>
          <p:nvPr/>
        </p:nvSpPr>
        <p:spPr>
          <a:xfrm>
            <a:off x="7507725" y="3015150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 txBox="1"/>
          <p:nvPr/>
        </p:nvSpPr>
        <p:spPr>
          <a:xfrm>
            <a:off x="393700" y="2990316"/>
            <a:ext cx="5537200" cy="2635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Genre and a confirmed research scope start the search.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nter" panose="020B0604020202020204" charset="0"/>
              <a:ea typeface="Inter" panose="02000503000000020004" pitchFamily="2" charset="0"/>
              <a:cs typeface="Helvetica Neue" panose="02000503000000020004" pitchFamily="2" charset="0"/>
              <a:sym typeface="OpenAI Sans"/>
            </a:endParaRP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The helper shows characters, setting, lore, time period, audience, tone, plot direction, rising action, stakes, climax, and falling action.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nter" panose="020B0604020202020204" charset="0"/>
              <a:ea typeface="Inter" panose="02000503000000020004" pitchFamily="2" charset="0"/>
              <a:cs typeface="Helvetica Neue" panose="02000503000000020004" pitchFamily="2" charset="0"/>
              <a:sym typeface="OpenAI Sans"/>
            </a:endParaRP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Review independent gaps together. Choose an option, write your own, or defer. Dependent questions wait.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nter" panose="020B0604020202020204" charset="0"/>
              <a:ea typeface="Inter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 txBox="1">
            <a:spLocks/>
          </p:cNvSpPr>
          <p:nvPr/>
        </p:nvSpPr>
        <p:spPr>
          <a:xfrm>
            <a:off x="7886700" y="3599916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>
                <a:solidFill>
                  <a:prstClr val="black"/>
                </a:solidFill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Separate gaps from blockers</a:t>
            </a:r>
            <a:endParaRPr lang="en-US" sz="1600" dirty="0">
              <a:solidFill>
                <a:prstClr val="black"/>
              </a:solidFill>
              <a:latin typeface="Inter" panose="020B0604020202020204" charset="0"/>
              <a:ea typeface="Inter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7" name="Google Shape;340;p61">
            <a:extLst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/>
          <p:nvPr/>
        </p:nvSpPr>
        <p:spPr>
          <a:xfrm>
            <a:off x="7507725" y="3624749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 txBox="1">
            <a:spLocks/>
          </p:cNvSpPr>
          <p:nvPr/>
        </p:nvSpPr>
        <p:spPr>
          <a:xfrm>
            <a:off x="7886700" y="4214765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>
                <a:solidFill>
                  <a:prstClr val="black"/>
                </a:solidFill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Accept each suggestion explicitly</a:t>
            </a:r>
            <a:endParaRPr lang="en-US" sz="1600" dirty="0">
              <a:solidFill>
                <a:prstClr val="black"/>
              </a:solidFill>
              <a:latin typeface="Inter" panose="020B0604020202020204" charset="0"/>
              <a:ea typeface="Inter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9" name="Google Shape;340;p61">
            <a:extLst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/>
          <p:nvPr/>
        </p:nvSpPr>
        <p:spPr>
          <a:xfrm>
            <a:off x="7507725" y="4239598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 txBox="1">
            <a:spLocks/>
          </p:cNvSpPr>
          <p:nvPr/>
        </p:nvSpPr>
        <p:spPr>
          <a:xfrm>
            <a:off x="7886700" y="4824364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>
                <a:solidFill>
                  <a:prstClr val="black"/>
                </a:solidFill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Confirm the resulting scope</a:t>
            </a:r>
            <a:endParaRPr lang="en-US" sz="1600" dirty="0">
              <a:solidFill>
                <a:prstClr val="black"/>
              </a:solidFill>
              <a:latin typeface="Inter" panose="020B0604020202020204" charset="0"/>
              <a:ea typeface="Inter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21" name="Google Shape;340;p61">
            <a:extLst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/>
          <p:nvPr/>
        </p:nvSpPr>
        <p:spPr>
          <a:xfrm>
            <a:off x="7507725" y="48491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Content Placeholder 10">
            <a:extLst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 txBox="1">
            <a:spLocks/>
          </p:cNvSpPr>
          <p:nvPr/>
        </p:nvSpPr>
        <p:spPr>
          <a:xfrm>
            <a:off x="7886700" y="5446664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>
                <a:solidFill>
                  <a:prstClr val="black"/>
                </a:solidFill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Research begins after confirmation</a:t>
            </a:r>
            <a:endParaRPr lang="en-US" sz="1600" dirty="0">
              <a:solidFill>
                <a:prstClr val="black"/>
              </a:solidFill>
              <a:latin typeface="Inter" panose="020B0604020202020204" charset="0"/>
              <a:ea typeface="Inter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24" name="Google Shape;340;p61">
            <a:extLst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/>
          <p:nvPr/>
        </p:nvSpPr>
        <p:spPr>
          <a:xfrm>
            <a:off x="7507725" y="54714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5" name="Navigation Previous">
            <a:hlinkClick r:id="rId3" action="ppaction://hlinksldjump"/>
            <a:extLst>
              <a:ext uri="{FF2B5EF4-FFF2-40B4-BE49-F238E27FC236}">
                <a16:creationId xmlns:a16="http://schemas.microsoft.com/office/drawing/2014/main" id="{64FC16F9-A390-6B79-01EF-F4B298E525E4}"/>
              </a:ext>
            </a:extLst>
          </p:cNvPr>
          <p:cNvSpPr txBox="1"/>
          <p:nvPr/>
        </p:nvSpPr>
        <p:spPr>
          <a:xfrm>
            <a:off x="393700" y="6261100"/>
            <a:ext cx="9398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Previous</a:t>
            </a:r>
          </a:p>
        </p:txBody>
      </p:sp>
      <p:sp>
        <p:nvSpPr>
          <p:cNvPr id="6" name="Navigation Handoff map">
            <a:hlinkClick r:id="rId3" action="ppaction://hlinksldjump"/>
            <a:extLst>
              <a:ext uri="{FF2B5EF4-FFF2-40B4-BE49-F238E27FC236}">
                <a16:creationId xmlns:a16="http://schemas.microsoft.com/office/drawing/2014/main" id="{C02380B6-71A6-F381-1310-D4704B0612F2}"/>
              </a:ext>
            </a:extLst>
          </p:cNvPr>
          <p:cNvSpPr txBox="1"/>
          <p:nvPr/>
        </p:nvSpPr>
        <p:spPr>
          <a:xfrm>
            <a:off x="1524000" y="6261100"/>
            <a:ext cx="12700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Handoff map</a:t>
            </a:r>
          </a:p>
        </p:txBody>
      </p:sp>
      <p:sp>
        <p:nvSpPr>
          <p:cNvPr id="7" name="Navigation Next handoff">
            <a:hlinkClick r:id="rId4" action="ppaction://hlinksldjump"/>
            <a:extLst>
              <a:ext uri="{FF2B5EF4-FFF2-40B4-BE49-F238E27FC236}">
                <a16:creationId xmlns:a16="http://schemas.microsoft.com/office/drawing/2014/main" id="{337EA2DF-E390-E05A-641C-66424F58DF5A}"/>
              </a:ext>
            </a:extLst>
          </p:cNvPr>
          <p:cNvSpPr txBox="1"/>
          <p:nvPr/>
        </p:nvSpPr>
        <p:spPr>
          <a:xfrm>
            <a:off x="2984500" y="6261100"/>
            <a:ext cx="13335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Next handoff</a:t>
            </a:r>
          </a:p>
        </p:txBody>
      </p:sp>
      <p:sp>
        <p:nvSpPr>
          <p:cNvPr id="8" name="Navigation If a check fails">
            <a:hlinkClick r:id="rId5" action="ppaction://hlinksldjump"/>
            <a:extLst>
              <a:ext uri="{FF2B5EF4-FFF2-40B4-BE49-F238E27FC236}">
                <a16:creationId xmlns:a16="http://schemas.microsoft.com/office/drawing/2014/main" id="{D397C9BC-F9EE-FE8B-0584-6CA87B35B73B}"/>
              </a:ext>
            </a:extLst>
          </p:cNvPr>
          <p:cNvSpPr txBox="1"/>
          <p:nvPr/>
        </p:nvSpPr>
        <p:spPr>
          <a:xfrm>
            <a:off x="4508500" y="6261100"/>
            <a:ext cx="15240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If a check fails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search dossier">
    <p:spTree>
      <p:nvGrpSpPr>
        <p:cNvPr id="1" name="Shape 531">
          <a:extLst>
            <a:ext uri="{FF2B5EF4-FFF2-40B4-BE49-F238E27FC236}">
              <a16:creationId xmlns:a16="http://schemas.microsoft.com/office/drawing/2014/main" id="{E2864E6F-A61F-6268-4D6A-78DC0BEE6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4</a:t>
            </a:fld>
            <a:endParaRPr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9"/>
            <a:ext cx="11404600" cy="581584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>
                <a:latin typeface="Inter Medium" panose="020B0604020202020204" charset="0"/>
              </a:rPr>
              <a:t>Research handoff</a:t>
            </a:r>
            <a:endParaRPr dirty="0">
              <a:latin typeface="Inter Medium" panose="020B060402020202020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/>
          <p:nvPr/>
        </p:nvSpPr>
        <p:spPr>
          <a:xfrm>
            <a:off x="397013" y="3025321"/>
            <a:ext cx="5533887" cy="1320801"/>
          </a:xfrm>
          <a:prstGeom prst="roundRect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 txBox="1">
            <a:spLocks/>
          </p:cNvSpPr>
          <p:nvPr/>
        </p:nvSpPr>
        <p:spPr>
          <a:xfrm>
            <a:off x="694248" y="3274205"/>
            <a:ext cx="4986886" cy="8777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Evidence to carry forward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Both provider outcomes, source identity, dates, rights, and located observations.</a:t>
            </a:r>
            <a:endParaRPr lang="en-US" sz="1600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4" name="Content Placeholder 15">
            <a:extLst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 txBox="1">
            <a:spLocks/>
          </p:cNvSpPr>
          <p:nvPr/>
        </p:nvSpPr>
        <p:spPr>
          <a:xfrm>
            <a:off x="694248" y="4514850"/>
            <a:ext cx="5236652" cy="977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Genre and required period / setting coverage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Exact source quotes and hashes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Nonblocking limitations stay visible</a:t>
            </a:r>
            <a:endParaRPr lang="en-US" sz="1400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/>
          <p:nvPr/>
        </p:nvSpPr>
        <p:spPr>
          <a:xfrm>
            <a:off x="6260785" y="3025321"/>
            <a:ext cx="5533887" cy="1320801"/>
          </a:xfrm>
          <a:prstGeom prst="roundRect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 txBox="1">
            <a:spLocks/>
          </p:cNvSpPr>
          <p:nvPr/>
        </p:nvSpPr>
        <p:spPr>
          <a:xfrm>
            <a:off x="6558020" y="3274205"/>
            <a:ext cx="4986886" cy="8777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The planning gate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All required dimensions need traceable support. The model cannot accept its own dossier.</a:t>
            </a:r>
            <a:endParaRPr lang="en-US" sz="1600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 txBox="1">
            <a:spLocks/>
          </p:cNvSpPr>
          <p:nvPr/>
        </p:nvSpPr>
        <p:spPr>
          <a:xfrm>
            <a:off x="6558020" y="4514850"/>
            <a:ext cx="5236652" cy="977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Missing evidence keeps planning blocked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 scope change needs explicit confirmation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 provider outage is never a silent bypass</a:t>
            </a:r>
            <a:endParaRPr lang="en-US" sz="1400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 txBox="1">
            <a:spLocks/>
          </p:cNvSpPr>
          <p:nvPr/>
        </p:nvSpPr>
        <p:spPr>
          <a:xfrm>
            <a:off x="400939" y="1157513"/>
            <a:ext cx="11404599" cy="162922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Confirmed brief and scope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The Research agent calls the allowed book-metadata tool, reads eligible text, and returns a versioned dossier candidate.</a:t>
            </a:r>
            <a:endParaRPr lang="en-US" sz="18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26" name="Content Placeholder 15">
            <a:extLst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 txBox="1">
            <a:spLocks/>
          </p:cNvSpPr>
          <p:nvPr/>
        </p:nvSpPr>
        <p:spPr>
          <a:xfrm>
            <a:off x="400939" y="5617936"/>
            <a:ext cx="11404599" cy="529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The live smoke run used controlled book-provider fixtures and original test text, not live book research.</a:t>
            </a:r>
            <a:endParaRPr lang="en-US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6" name="Navigation Previous">
            <a:hlinkClick r:id="rId3" action="ppaction://hlinksldjump"/>
            <a:extLst>
              <a:ext uri="{FF2B5EF4-FFF2-40B4-BE49-F238E27FC236}">
                <a16:creationId xmlns:a16="http://schemas.microsoft.com/office/drawing/2014/main" id="{F0765F46-C9CA-98D6-C4B9-A3382522377B}"/>
              </a:ext>
            </a:extLst>
          </p:cNvPr>
          <p:cNvSpPr txBox="1"/>
          <p:nvPr/>
        </p:nvSpPr>
        <p:spPr>
          <a:xfrm>
            <a:off x="393700" y="6261100"/>
            <a:ext cx="9398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Previous</a:t>
            </a:r>
          </a:p>
        </p:txBody>
      </p:sp>
      <p:sp>
        <p:nvSpPr>
          <p:cNvPr id="7" name="Navigation Handoff map">
            <a:hlinkClick r:id="rId4" action="ppaction://hlinksldjump"/>
            <a:extLst>
              <a:ext uri="{FF2B5EF4-FFF2-40B4-BE49-F238E27FC236}">
                <a16:creationId xmlns:a16="http://schemas.microsoft.com/office/drawing/2014/main" id="{B51B2409-B287-685E-EE63-418D3AABD9C4}"/>
              </a:ext>
            </a:extLst>
          </p:cNvPr>
          <p:cNvSpPr txBox="1"/>
          <p:nvPr/>
        </p:nvSpPr>
        <p:spPr>
          <a:xfrm>
            <a:off x="1524000" y="6261100"/>
            <a:ext cx="12700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Handoff map</a:t>
            </a:r>
          </a:p>
        </p:txBody>
      </p:sp>
      <p:sp>
        <p:nvSpPr>
          <p:cNvPr id="9" name="Navigation Next handoff">
            <a:hlinkClick r:id="rId5" action="ppaction://hlinksldjump"/>
            <a:extLst>
              <a:ext uri="{FF2B5EF4-FFF2-40B4-BE49-F238E27FC236}">
                <a16:creationId xmlns:a16="http://schemas.microsoft.com/office/drawing/2014/main" id="{AA3D4EF8-E94F-8702-165D-C7674CAA8B61}"/>
              </a:ext>
            </a:extLst>
          </p:cNvPr>
          <p:cNvSpPr txBox="1"/>
          <p:nvPr/>
        </p:nvSpPr>
        <p:spPr>
          <a:xfrm>
            <a:off x="2984500" y="6261100"/>
            <a:ext cx="13335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Next handoff</a:t>
            </a:r>
          </a:p>
        </p:txBody>
      </p:sp>
      <p:sp>
        <p:nvSpPr>
          <p:cNvPr id="10" name="Navigation If a check fails">
            <a:hlinkClick r:id="rId6" action="ppaction://hlinksldjump"/>
            <a:extLst>
              <a:ext uri="{FF2B5EF4-FFF2-40B4-BE49-F238E27FC236}">
                <a16:creationId xmlns:a16="http://schemas.microsoft.com/office/drawing/2014/main" id="{11FF22FC-0354-DCA6-7431-87BF98E2363E}"/>
              </a:ext>
            </a:extLst>
          </p:cNvPr>
          <p:cNvSpPr txBox="1"/>
          <p:nvPr/>
        </p:nvSpPr>
        <p:spPr>
          <a:xfrm>
            <a:off x="4508500" y="6261100"/>
            <a:ext cx="15240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If a check fails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lanning and drafting">
    <p:spTree>
      <p:nvGrpSpPr>
        <p:cNvPr id="1" name="">
          <a:extLst>
            <a:ext uri="{FF2B5EF4-FFF2-40B4-BE49-F238E27FC236}">
              <a16:creationId xmlns:a16="http://schemas.microsoft.com/office/drawing/2014/main" id="{38B9D4E6-CFF8-CAD9-A94E-1228D81E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3822700"/>
            <a:ext cx="2595934" cy="1168400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Planning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Use accepted research for Bible proposals.</a:t>
            </a:r>
            <a:endParaRPr lang="en-US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5</a:t>
            </a:fld>
            <a:endParaRPr lang="en-US" sz="110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7846838" cy="1034893"/>
          </a:xfrm>
        </p:spPr>
        <p:txBody>
          <a:bodyPr>
            <a:normAutofit/>
          </a:bodyPr>
          <a:lstStyle/>
          <a:p>
            <a:r>
              <a:rPr lang="en-US">
                <a:latin typeface="Inter Medium" panose="020B0604020202020204" charset="0"/>
              </a:rPr>
              <a:t>Planning and the chapter barrier</a:t>
            </a:r>
            <a:endParaRPr lang="en-US" dirty="0">
              <a:latin typeface="Inter Medium" panose="020B0604020202020204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17119" y="3822700"/>
            <a:ext cx="2595934" cy="1168400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Human approval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Approve an exact bible version. This creates the immutable writing input.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40538" y="3822700"/>
            <a:ext cx="2595934" cy="1168400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Chapter barrier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Validate chapters 1, 2, 3 against that version before Reader starts.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cxnSp>
        <p:nvCxnSpPr>
          <p:cNvPr id="2" name="Google Shape;2259;p159">
            <a:extLst>
              <a:ext uri="{FF2B5EF4-FFF2-40B4-BE49-F238E27FC236}">
                <a16:creationId xmlns:a16="http://schemas.microsoft.com/office/drawing/2014/main" id="{B445FE4B-78BD-90F9-A6AA-1A4EF03DE791}"/>
              </a:ext>
            </a:extLst>
          </p:cNvPr>
          <p:cNvCxnSpPr>
            <a:stCxn id="3" idx="2"/>
          </p:cNvCxnSpPr>
          <p:nvPr/>
        </p:nvCxnSpPr>
        <p:spPr>
          <a:xfrm>
            <a:off x="337718" y="3373753"/>
            <a:ext cx="122454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/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/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/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 txBox="1">
            <a:spLocks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Accepted research</a:t>
            </a:r>
            <a:endParaRPr lang="en-US" sz="14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 txBox="1">
            <a:spLocks/>
          </p:cNvSpPr>
          <p:nvPr/>
        </p:nvSpPr>
        <p:spPr>
          <a:xfrm>
            <a:off x="4294187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Exact bible approval</a:t>
            </a:r>
            <a:endParaRPr lang="en-US" sz="14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 txBox="1">
            <a:spLocks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Three valid chapters</a:t>
            </a:r>
            <a:endParaRPr lang="en-US" sz="14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8" name="Navigation Previous">
            <a:hlinkClick r:id="rId3" action="ppaction://hlinksldjump"/>
            <a:extLst>
              <a:ext uri="{FF2B5EF4-FFF2-40B4-BE49-F238E27FC236}">
                <a16:creationId xmlns:a16="http://schemas.microsoft.com/office/drawing/2014/main" id="{FAAD5BB6-56D3-F1FA-4D0F-2CF4C2DC0304}"/>
              </a:ext>
            </a:extLst>
          </p:cNvPr>
          <p:cNvSpPr txBox="1"/>
          <p:nvPr/>
        </p:nvSpPr>
        <p:spPr>
          <a:xfrm>
            <a:off x="393700" y="6261100"/>
            <a:ext cx="9398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Previous</a:t>
            </a:r>
          </a:p>
        </p:txBody>
      </p:sp>
      <p:sp>
        <p:nvSpPr>
          <p:cNvPr id="10" name="Navigation Handoff map">
            <a:hlinkClick r:id="rId4" action="ppaction://hlinksldjump"/>
            <a:extLst>
              <a:ext uri="{FF2B5EF4-FFF2-40B4-BE49-F238E27FC236}">
                <a16:creationId xmlns:a16="http://schemas.microsoft.com/office/drawing/2014/main" id="{D2658F34-EFCB-3140-7D7F-0375476B419C}"/>
              </a:ext>
            </a:extLst>
          </p:cNvPr>
          <p:cNvSpPr txBox="1"/>
          <p:nvPr/>
        </p:nvSpPr>
        <p:spPr>
          <a:xfrm>
            <a:off x="1524000" y="6261100"/>
            <a:ext cx="12700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Handoff map</a:t>
            </a:r>
          </a:p>
        </p:txBody>
      </p:sp>
      <p:sp>
        <p:nvSpPr>
          <p:cNvPr id="12" name="Navigation Next handoff">
            <a:hlinkClick r:id="rId5" action="ppaction://hlinksldjump"/>
            <a:extLst>
              <a:ext uri="{FF2B5EF4-FFF2-40B4-BE49-F238E27FC236}">
                <a16:creationId xmlns:a16="http://schemas.microsoft.com/office/drawing/2014/main" id="{957CF411-C305-BB08-5F57-C25561C4378D}"/>
              </a:ext>
            </a:extLst>
          </p:cNvPr>
          <p:cNvSpPr txBox="1"/>
          <p:nvPr/>
        </p:nvSpPr>
        <p:spPr>
          <a:xfrm>
            <a:off x="2984500" y="6261100"/>
            <a:ext cx="13335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Next handoff</a:t>
            </a:r>
          </a:p>
        </p:txBody>
      </p:sp>
      <p:sp>
        <p:nvSpPr>
          <p:cNvPr id="15" name="Navigation If a check fails">
            <a:hlinkClick r:id="rId6" action="ppaction://hlinksldjump"/>
            <a:extLst>
              <a:ext uri="{FF2B5EF4-FFF2-40B4-BE49-F238E27FC236}">
                <a16:creationId xmlns:a16="http://schemas.microsoft.com/office/drawing/2014/main" id="{128AB889-4EC4-EB10-D0B1-34F7B9488949}"/>
              </a:ext>
            </a:extLst>
          </p:cNvPr>
          <p:cNvSpPr txBox="1"/>
          <p:nvPr/>
        </p:nvSpPr>
        <p:spPr>
          <a:xfrm>
            <a:off x="4508500" y="6261100"/>
            <a:ext cx="15240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If a check fails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ader handoff">
    <p:spTree>
      <p:nvGrpSpPr>
        <p:cNvPr id="1" name="">
          <a:extLst>
            <a:ext uri="{FF2B5EF4-FFF2-40B4-BE49-F238E27FC236}">
              <a16:creationId xmlns:a16="http://schemas.microsoft.com/office/drawing/2014/main" id="{CA4384EB-0A36-C568-1394-622070320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BCE0023-EAF6-DE56-0E1C-82DBB43BC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5790568"/>
            <a:ext cx="2595934" cy="304800"/>
          </a:xfrm>
        </p:spPr>
        <p:txBody>
          <a:bodyPr tIns="0" bIns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Read assigned sources</a:t>
            </a:r>
            <a:endParaRPr lang="en-US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6</a:t>
            </a:fld>
            <a:endParaRPr lang="en-US" sz="110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9"/>
            <a:ext cx="11404600" cy="697392"/>
          </a:xfrm>
        </p:spPr>
        <p:txBody>
          <a:bodyPr>
            <a:normAutofit/>
          </a:bodyPr>
          <a:lstStyle/>
          <a:p>
            <a:r>
              <a:rPr lang="en-US">
                <a:latin typeface="Inter Medium" panose="020B0604020202020204" charset="0"/>
              </a:rPr>
              <a:t>Reader handoff to both Editors</a:t>
            </a:r>
            <a:endParaRPr lang="en-US" dirty="0">
              <a:latin typeface="Inter Medium" panose="020B0604020202020204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2BEE64C-6563-1BB7-A623-639AFDE65B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17119" y="5790568"/>
            <a:ext cx="2595934" cy="304800"/>
          </a:xfrm>
        </p:spPr>
        <p:txBody>
          <a:bodyPr t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Validate the handoff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DFD0C1C-1304-91F0-2C04-3F5E112B7B4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40538" y="5790568"/>
            <a:ext cx="2595934" cy="304800"/>
          </a:xfrm>
        </p:spPr>
        <p:txBody>
          <a:bodyPr t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Receive and acknowledge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cxnSp>
        <p:nvCxnSpPr>
          <p:cNvPr id="2" name="Google Shape;2259;p159">
            <a:extLst>
              <a:ext uri="{FF2B5EF4-FFF2-40B4-BE49-F238E27FC236}">
                <a16:creationId xmlns:a16="http://schemas.microsoft.com/office/drawing/2014/main" id="{F626B8B8-EC06-A9AE-B0C0-EDD830C6DCE6}"/>
              </a:ext>
            </a:extLst>
          </p:cNvPr>
          <p:cNvCxnSpPr>
            <a:stCxn id="3" idx="2"/>
          </p:cNvCxnSpPr>
          <p:nvPr/>
        </p:nvCxnSpPr>
        <p:spPr>
          <a:xfrm>
            <a:off x="337718" y="5341621"/>
            <a:ext cx="122454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/>
          <p:nvPr/>
        </p:nvSpPr>
        <p:spPr>
          <a:xfrm>
            <a:off x="337718" y="5288071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/>
          <p:nvPr/>
        </p:nvSpPr>
        <p:spPr>
          <a:xfrm>
            <a:off x="4251750" y="5288071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/>
          <p:nvPr/>
        </p:nvSpPr>
        <p:spPr>
          <a:xfrm>
            <a:off x="8176050" y="5288071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/>
          <p:nvPr/>
        </p:nvSpPr>
        <p:spPr>
          <a:xfrm>
            <a:off x="393700" y="1401762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 txBox="1">
            <a:spLocks/>
          </p:cNvSpPr>
          <p:nvPr/>
        </p:nvSpPr>
        <p:spPr>
          <a:xfrm>
            <a:off x="703381" y="1806797"/>
            <a:ext cx="2949339" cy="25667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Reader's task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Prepare source-grounded analysis. Return neutral observations as well as located contradictions. Do not produce the Editors' manuscripts.</a:t>
            </a:r>
            <a:endParaRPr lang="en-US" sz="1800" dirty="0">
              <a:latin typeface="Helvetica Neue" panose="02000503000000020004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/>
          <p:nvPr/>
        </p:nvSpPr>
        <p:spPr>
          <a:xfrm>
            <a:off x="4308475" y="1401762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8">
            <a:extLst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 txBox="1">
            <a:spLocks/>
          </p:cNvSpPr>
          <p:nvPr/>
        </p:nvSpPr>
        <p:spPr>
          <a:xfrm>
            <a:off x="4618156" y="1806797"/>
            <a:ext cx="2949339" cy="25667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Five required fields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Task, recorded user instructions, source references, completeness and confidence, and versions. Bind hashes to actual chapters.</a:t>
            </a:r>
            <a:endParaRPr lang="en-US" sz="1800" dirty="0">
              <a:latin typeface="Helvetica Neue" panose="02000503000000020004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/>
          <p:nvPr/>
        </p:nvSpPr>
        <p:spPr>
          <a:xfrm>
            <a:off x="8237538" y="1401762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 txBox="1">
            <a:spLocks/>
          </p:cNvSpPr>
          <p:nvPr/>
        </p:nvSpPr>
        <p:spPr>
          <a:xfrm>
            <a:off x="8547219" y="1806797"/>
            <a:ext cx="2949339" cy="25667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Editor boundary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Validate the source versions and recorded task before editing. A rejected handoff returns for one bounded repair, then clarification or failure.</a:t>
            </a:r>
            <a:endParaRPr lang="en-US" sz="1800" dirty="0">
              <a:latin typeface="Helvetica Neue" panose="02000503000000020004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AD2B367-4B64-657F-20CC-D17632C47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8" name="Navigation Previous">
            <a:hlinkClick r:id="rId3" action="ppaction://hlinksldjump"/>
            <a:extLst>
              <a:ext uri="{FF2B5EF4-FFF2-40B4-BE49-F238E27FC236}">
                <a16:creationId xmlns:a16="http://schemas.microsoft.com/office/drawing/2014/main" id="{C698546E-EABA-4B53-EFB6-9FAA5FCF5D4F}"/>
              </a:ext>
            </a:extLst>
          </p:cNvPr>
          <p:cNvSpPr txBox="1"/>
          <p:nvPr/>
        </p:nvSpPr>
        <p:spPr>
          <a:xfrm>
            <a:off x="393700" y="6261100"/>
            <a:ext cx="9398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Previous</a:t>
            </a:r>
          </a:p>
        </p:txBody>
      </p:sp>
      <p:sp>
        <p:nvSpPr>
          <p:cNvPr id="9" name="Navigation Handoff map">
            <a:hlinkClick r:id="rId4" action="ppaction://hlinksldjump"/>
            <a:extLst>
              <a:ext uri="{FF2B5EF4-FFF2-40B4-BE49-F238E27FC236}">
                <a16:creationId xmlns:a16="http://schemas.microsoft.com/office/drawing/2014/main" id="{E2B7D071-E2CC-2C55-0EBA-9D4A81CB89F4}"/>
              </a:ext>
            </a:extLst>
          </p:cNvPr>
          <p:cNvSpPr txBox="1"/>
          <p:nvPr/>
        </p:nvSpPr>
        <p:spPr>
          <a:xfrm>
            <a:off x="1524000" y="6261100"/>
            <a:ext cx="12700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Handoff map</a:t>
            </a:r>
          </a:p>
        </p:txBody>
      </p:sp>
      <p:sp>
        <p:nvSpPr>
          <p:cNvPr id="10" name="Navigation Next handoff">
            <a:hlinkClick r:id="rId5" action="ppaction://hlinksldjump"/>
            <a:extLst>
              <a:ext uri="{FF2B5EF4-FFF2-40B4-BE49-F238E27FC236}">
                <a16:creationId xmlns:a16="http://schemas.microsoft.com/office/drawing/2014/main" id="{9FF202F5-F587-CF60-8D83-ECFEA18FF341}"/>
              </a:ext>
            </a:extLst>
          </p:cNvPr>
          <p:cNvSpPr txBox="1"/>
          <p:nvPr/>
        </p:nvSpPr>
        <p:spPr>
          <a:xfrm>
            <a:off x="2984500" y="6261100"/>
            <a:ext cx="13335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Next handoff</a:t>
            </a:r>
          </a:p>
        </p:txBody>
      </p:sp>
      <p:sp>
        <p:nvSpPr>
          <p:cNvPr id="12" name="Navigation If a check fails">
            <a:hlinkClick r:id="rId6" action="ppaction://hlinksldjump"/>
            <a:extLst>
              <a:ext uri="{FF2B5EF4-FFF2-40B4-BE49-F238E27FC236}">
                <a16:creationId xmlns:a16="http://schemas.microsoft.com/office/drawing/2014/main" id="{7D1E9DA5-8A21-84DB-F79B-4A6178E3BC11}"/>
              </a:ext>
            </a:extLst>
          </p:cNvPr>
          <p:cNvSpPr txBox="1"/>
          <p:nvPr/>
        </p:nvSpPr>
        <p:spPr>
          <a:xfrm>
            <a:off x="4508500" y="6261100"/>
            <a:ext cx="15240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If a check fails</a:t>
            </a:r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ditor alternatives">
    <p:spTree>
      <p:nvGrpSpPr>
        <p:cNvPr id="1" name="Shape 531">
          <a:extLst>
            <a:ext uri="{FF2B5EF4-FFF2-40B4-BE49-F238E27FC236}">
              <a16:creationId xmlns:a16="http://schemas.microsoft.com/office/drawing/2014/main" id="{1944D812-803F-DB18-EA01-C8287904B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7</a:t>
            </a:fld>
            <a:endParaRPr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7835900" cy="104749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>
                <a:latin typeface="Inter Medium" panose="020B0604020202020204" charset="0"/>
              </a:rPr>
              <a:t>Two independent editorial proposals</a:t>
            </a:r>
            <a:endParaRPr dirty="0">
              <a:latin typeface="Inter Medium" panose="020B0604020202020204" charset="0"/>
            </a:endParaRP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 txBox="1">
            <a:spLocks/>
          </p:cNvSpPr>
          <p:nvPr/>
        </p:nvSpPr>
        <p:spPr>
          <a:xfrm>
            <a:off x="6972300" y="23749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Continuity and pacing proposal against the accepted snapshot.</a:t>
            </a:r>
            <a:endParaRPr lang="en-US" sz="1600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 txBox="1">
            <a:spLocks/>
          </p:cNvSpPr>
          <p:nvPr/>
        </p:nvSpPr>
        <p:spPr>
          <a:xfrm>
            <a:off x="4851400" y="23749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Helvetica Neue Medium" panose="02000503000000020004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Editor A</a:t>
            </a:r>
            <a:endParaRPr lang="en-US" sz="1600" dirty="0">
              <a:solidFill>
                <a:schemeClr val="accent5">
                  <a:lumMod val="50000"/>
                </a:schemeClr>
              </a:solidFill>
              <a:latin typeface="Helvetica Neue Medium" panose="02000503000000020004"/>
              <a:ea typeface="Helvetica Neue Medium" panose="02000503000000020004" pitchFamily="2" charset="0"/>
              <a:cs typeface="Helvetica Neue Medium" panose="02000503000000020004" pitchFamily="2" charset="0"/>
              <a:sym typeface="OpenAI Sans"/>
            </a:endParaRP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 txBox="1">
            <a:spLocks/>
          </p:cNvSpPr>
          <p:nvPr/>
        </p:nvSpPr>
        <p:spPr>
          <a:xfrm>
            <a:off x="6972300" y="33655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Voice and atmosphere proposal against the same snapshot.</a:t>
            </a:r>
            <a:endParaRPr lang="en-US" sz="1600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 txBox="1">
            <a:spLocks/>
          </p:cNvSpPr>
          <p:nvPr/>
        </p:nvSpPr>
        <p:spPr>
          <a:xfrm>
            <a:off x="4851400" y="33655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Helvetica Neue Medium" panose="02000503000000020004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Editor B</a:t>
            </a:r>
            <a:endParaRPr lang="en-US" sz="1600" dirty="0">
              <a:solidFill>
                <a:schemeClr val="accent5">
                  <a:lumMod val="50000"/>
                </a:schemeClr>
              </a:solidFill>
              <a:latin typeface="Helvetica Neue Medium" panose="02000503000000020004"/>
              <a:ea typeface="Helvetica Neue Medium" panose="02000503000000020004" pitchFamily="2" charset="0"/>
              <a:cs typeface="Helvetica Neue Medium" panose="02000503000000020004" pitchFamily="2" charset="0"/>
              <a:sym typeface="OpenAI Sans"/>
            </a:endParaRP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 txBox="1">
            <a:spLocks/>
          </p:cNvSpPr>
          <p:nvPr/>
        </p:nvSpPr>
        <p:spPr>
          <a:xfrm>
            <a:off x="6972300" y="43561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Keep alternatives distinct. Record each exact manuscript digest.</a:t>
            </a:r>
            <a:endParaRPr lang="en-US" sz="1600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 txBox="1">
            <a:spLocks/>
          </p:cNvSpPr>
          <p:nvPr/>
        </p:nvSpPr>
        <p:spPr>
          <a:xfrm>
            <a:off x="4851400" y="43561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Helvetica Neue Medium" panose="02000503000000020004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Separate versions</a:t>
            </a:r>
            <a:endParaRPr lang="en-US" sz="1600" dirty="0">
              <a:solidFill>
                <a:schemeClr val="accent5">
                  <a:lumMod val="50000"/>
                </a:schemeClr>
              </a:solidFill>
              <a:latin typeface="Helvetica Neue Medium" panose="02000503000000020004"/>
              <a:ea typeface="Helvetica Neue Medium" panose="02000503000000020004" pitchFamily="2" charset="0"/>
              <a:cs typeface="Helvetica Neue Medium" panose="02000503000000020004" pitchFamily="2" charset="0"/>
              <a:sym typeface="OpenAI Sans"/>
            </a:endParaRP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 txBox="1">
            <a:spLocks/>
          </p:cNvSpPr>
          <p:nvPr/>
        </p:nvSpPr>
        <p:spPr>
          <a:xfrm>
            <a:off x="6972300" y="53594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Neither Editor can approve canon or bypass the writer decision.</a:t>
            </a:r>
            <a:endParaRPr lang="en-US" sz="1600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21" name="Content Placeholder 10">
            <a:extLst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 txBox="1">
            <a:spLocks/>
          </p:cNvSpPr>
          <p:nvPr/>
        </p:nvSpPr>
        <p:spPr>
          <a:xfrm>
            <a:off x="4851400" y="53594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>
                <a:solidFill>
                  <a:schemeClr val="accent5">
                    <a:lumMod val="50000"/>
                  </a:schemeClr>
                </a:solidFill>
                <a:latin typeface="Helvetica Neue Medium" panose="02000503000000020004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No direct acceptance</a:t>
            </a:r>
            <a:endParaRPr lang="en-US" sz="1600" dirty="0">
              <a:solidFill>
                <a:schemeClr val="accent5">
                  <a:lumMod val="50000"/>
                </a:schemeClr>
              </a:solidFill>
              <a:latin typeface="Helvetica Neue Medium" panose="02000503000000020004"/>
              <a:ea typeface="Helvetica Neue Medium" panose="02000503000000020004" pitchFamily="2" charset="0"/>
              <a:cs typeface="Helvetica Neue Medium" panose="02000503000000020004" pitchFamily="2" charset="0"/>
              <a:sym typeface="OpenAI Sans"/>
            </a:endParaRP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 txBox="1">
            <a:spLocks/>
          </p:cNvSpPr>
          <p:nvPr/>
        </p:nvSpPr>
        <p:spPr>
          <a:xfrm>
            <a:off x="393700" y="2374901"/>
            <a:ext cx="3568700" cy="361949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8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Justin WRITE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8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The existing A and B functions return separate manuscript proposals. In the verified harness, these are synthetic connectors, not live WRITE models.</a:t>
            </a:r>
            <a:endParaRPr lang="en-US" sz="18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4" name="Navigation Previous">
            <a:hlinkClick r:id="rId3" action="ppaction://hlinksldjump"/>
            <a:extLst>
              <a:ext uri="{FF2B5EF4-FFF2-40B4-BE49-F238E27FC236}">
                <a16:creationId xmlns:a16="http://schemas.microsoft.com/office/drawing/2014/main" id="{3C474C36-9214-E5DD-65C3-6763C5B8F342}"/>
              </a:ext>
            </a:extLst>
          </p:cNvPr>
          <p:cNvSpPr txBox="1"/>
          <p:nvPr/>
        </p:nvSpPr>
        <p:spPr>
          <a:xfrm>
            <a:off x="393700" y="6261100"/>
            <a:ext cx="9398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Previous</a:t>
            </a:r>
          </a:p>
        </p:txBody>
      </p:sp>
      <p:sp>
        <p:nvSpPr>
          <p:cNvPr id="5" name="Navigation Handoff map">
            <a:hlinkClick r:id="rId4" action="ppaction://hlinksldjump"/>
            <a:extLst>
              <a:ext uri="{FF2B5EF4-FFF2-40B4-BE49-F238E27FC236}">
                <a16:creationId xmlns:a16="http://schemas.microsoft.com/office/drawing/2014/main" id="{5165DC7B-EE75-7B05-E615-6EF68944867D}"/>
              </a:ext>
            </a:extLst>
          </p:cNvPr>
          <p:cNvSpPr txBox="1"/>
          <p:nvPr/>
        </p:nvSpPr>
        <p:spPr>
          <a:xfrm>
            <a:off x="1524000" y="6261100"/>
            <a:ext cx="12700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Handoff map</a:t>
            </a:r>
          </a:p>
        </p:txBody>
      </p:sp>
      <p:sp>
        <p:nvSpPr>
          <p:cNvPr id="6" name="Navigation Next handoff">
            <a:hlinkClick r:id="rId5" action="ppaction://hlinksldjump"/>
            <a:extLst>
              <a:ext uri="{FF2B5EF4-FFF2-40B4-BE49-F238E27FC236}">
                <a16:creationId xmlns:a16="http://schemas.microsoft.com/office/drawing/2014/main" id="{FC053CBB-6D86-4353-3451-8D3F1DE22A0C}"/>
              </a:ext>
            </a:extLst>
          </p:cNvPr>
          <p:cNvSpPr txBox="1"/>
          <p:nvPr/>
        </p:nvSpPr>
        <p:spPr>
          <a:xfrm>
            <a:off x="2984500" y="6261100"/>
            <a:ext cx="13335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Next handoff</a:t>
            </a:r>
          </a:p>
        </p:txBody>
      </p:sp>
      <p:sp>
        <p:nvSpPr>
          <p:cNvPr id="7" name="Navigation If a check fails">
            <a:hlinkClick r:id="rId6" action="ppaction://hlinksldjump"/>
            <a:extLst>
              <a:ext uri="{FF2B5EF4-FFF2-40B4-BE49-F238E27FC236}">
                <a16:creationId xmlns:a16="http://schemas.microsoft.com/office/drawing/2014/main" id="{686394C7-8AEA-5353-444E-957B1C17E82A}"/>
              </a:ext>
            </a:extLst>
          </p:cNvPr>
          <p:cNvSpPr txBox="1"/>
          <p:nvPr/>
        </p:nvSpPr>
        <p:spPr>
          <a:xfrm>
            <a:off x="4508500" y="6261100"/>
            <a:ext cx="15240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If a check fails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ct-version Consistency">
    <p:spTree>
      <p:nvGrpSpPr>
        <p:cNvPr id="1" name="Shape 531">
          <a:extLst>
            <a:ext uri="{FF2B5EF4-FFF2-40B4-BE49-F238E27FC236}">
              <a16:creationId xmlns:a16="http://schemas.microsoft.com/office/drawing/2014/main" id="{6FEEB714-27EC-EADB-9D97-F2F51BFD8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8</a:t>
            </a:fld>
            <a:endParaRPr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>
                <a:latin typeface="Inter Medium" panose="020B0604020202020204" charset="0"/>
              </a:rPr>
              <a:t>Consistency checks each exact version</a:t>
            </a:r>
            <a:endParaRPr dirty="0">
              <a:latin typeface="Inter Medium" panose="020B0604020202020204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/>
          <p:nvPr/>
        </p:nvSpPr>
        <p:spPr>
          <a:xfrm>
            <a:off x="6264412" y="236985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 txBox="1">
            <a:spLocks/>
          </p:cNvSpPr>
          <p:nvPr/>
        </p:nvSpPr>
        <p:spPr>
          <a:xfrm>
            <a:off x="6561647" y="266478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Located findings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Cite the chapter passage, controlling fact, severity, and possible correction.</a:t>
            </a:r>
            <a:endParaRPr lang="en-US" sz="1600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/>
          <p:nvPr/>
        </p:nvSpPr>
        <p:spPr>
          <a:xfrm>
            <a:off x="409043" y="236985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 txBox="1">
            <a:spLocks/>
          </p:cNvSpPr>
          <p:nvPr/>
        </p:nvSpPr>
        <p:spPr>
          <a:xfrm>
            <a:off x="706278" y="266478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Assigned proposal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Check proposal ID, version, and content digest before dispatch.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/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 txBox="1">
            <a:spLocks/>
          </p:cNvSpPr>
          <p:nvPr/>
        </p:nvSpPr>
        <p:spPr>
          <a:xfrm>
            <a:off x="6561647" y="466503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 later edit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The old report remains attached to the old version. Check the new version again.</a:t>
            </a:r>
            <a:endParaRPr lang="en-US" sz="1600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/>
          <p:nvPr/>
        </p:nvSpPr>
        <p:spPr>
          <a:xfrm>
            <a:off x="409043" y="437010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 txBox="1">
            <a:spLocks/>
          </p:cNvSpPr>
          <p:nvPr/>
        </p:nvSpPr>
        <p:spPr>
          <a:xfrm>
            <a:off x="706278" y="466503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Missing evidence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Return partial or unavailable. An absent check never means no issues.</a:t>
            </a:r>
            <a:endParaRPr lang="en-US" sz="1600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 txBox="1">
            <a:spLocks/>
          </p:cNvSpPr>
          <p:nvPr/>
        </p:nvSpPr>
        <p:spPr>
          <a:xfrm>
            <a:off x="400939" y="1057501"/>
            <a:ext cx="11404599" cy="1012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Manny READ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Consistency runs independently on each edited manuscript, against the approved facts and the full three-chapter snapshot.</a:t>
            </a:r>
            <a:endParaRPr lang="en-US" sz="18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12" name="Navigation Previous">
            <a:hlinkClick r:id="rId3" action="ppaction://hlinksldjump"/>
            <a:extLst>
              <a:ext uri="{FF2B5EF4-FFF2-40B4-BE49-F238E27FC236}">
                <a16:creationId xmlns:a16="http://schemas.microsoft.com/office/drawing/2014/main" id="{DE67A5C0-7196-61D6-8D99-7236550461C4}"/>
              </a:ext>
            </a:extLst>
          </p:cNvPr>
          <p:cNvSpPr txBox="1"/>
          <p:nvPr/>
        </p:nvSpPr>
        <p:spPr>
          <a:xfrm>
            <a:off x="393700" y="6261100"/>
            <a:ext cx="9398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Previous</a:t>
            </a:r>
          </a:p>
        </p:txBody>
      </p:sp>
      <p:sp>
        <p:nvSpPr>
          <p:cNvPr id="13" name="Navigation Handoff map">
            <a:hlinkClick r:id="rId4" action="ppaction://hlinksldjump"/>
            <a:extLst>
              <a:ext uri="{FF2B5EF4-FFF2-40B4-BE49-F238E27FC236}">
                <a16:creationId xmlns:a16="http://schemas.microsoft.com/office/drawing/2014/main" id="{2ECE485F-22AA-0B8D-9298-4F99265488BD}"/>
              </a:ext>
            </a:extLst>
          </p:cNvPr>
          <p:cNvSpPr txBox="1"/>
          <p:nvPr/>
        </p:nvSpPr>
        <p:spPr>
          <a:xfrm>
            <a:off x="1524000" y="6261100"/>
            <a:ext cx="12700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Handoff map</a:t>
            </a:r>
          </a:p>
        </p:txBody>
      </p:sp>
      <p:sp>
        <p:nvSpPr>
          <p:cNvPr id="14" name="Navigation Next handoff">
            <a:hlinkClick r:id="rId5" action="ppaction://hlinksldjump"/>
            <a:extLst>
              <a:ext uri="{FF2B5EF4-FFF2-40B4-BE49-F238E27FC236}">
                <a16:creationId xmlns:a16="http://schemas.microsoft.com/office/drawing/2014/main" id="{E85769F7-D82A-D8FC-0283-0B665ED97437}"/>
              </a:ext>
            </a:extLst>
          </p:cNvPr>
          <p:cNvSpPr txBox="1"/>
          <p:nvPr/>
        </p:nvSpPr>
        <p:spPr>
          <a:xfrm>
            <a:off x="2984500" y="6261100"/>
            <a:ext cx="13335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Next handoff</a:t>
            </a:r>
          </a:p>
        </p:txBody>
      </p:sp>
      <p:sp>
        <p:nvSpPr>
          <p:cNvPr id="15" name="Navigation If a check fails">
            <a:hlinkClick r:id="rId6" action="ppaction://hlinksldjump"/>
            <a:extLst>
              <a:ext uri="{FF2B5EF4-FFF2-40B4-BE49-F238E27FC236}">
                <a16:creationId xmlns:a16="http://schemas.microsoft.com/office/drawing/2014/main" id="{57413D9B-6BA8-E3AE-B583-D7E3F4A37942}"/>
              </a:ext>
            </a:extLst>
          </p:cNvPr>
          <p:cNvSpPr txBox="1"/>
          <p:nvPr/>
        </p:nvSpPr>
        <p:spPr>
          <a:xfrm>
            <a:off x="4508500" y="6261100"/>
            <a:ext cx="15240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If a check fails</a:t>
            </a:r>
          </a:p>
        </p:txBody>
      </p:sp>
      <p:sp>
        <p:nvSpPr>
          <p:cNvPr id="16" name="Navigation New edit: recheck this version">
            <a:hlinkClick r:id="rId7" action="ppaction://hlinksldjump"/>
            <a:extLst>
              <a:ext uri="{FF2B5EF4-FFF2-40B4-BE49-F238E27FC236}">
                <a16:creationId xmlns:a16="http://schemas.microsoft.com/office/drawing/2014/main" id="{45413C1A-F7C0-7ECC-924A-6A0A58185C02}"/>
              </a:ext>
            </a:extLst>
          </p:cNvPr>
          <p:cNvSpPr txBox="1"/>
          <p:nvPr/>
        </p:nvSpPr>
        <p:spPr>
          <a:xfrm>
            <a:off x="6261100" y="5765800"/>
            <a:ext cx="41910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New edit: recheck this version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uman revision loop">
    <p:spTree>
      <p:nvGrpSpPr>
        <p:cNvPr id="1" name="">
          <a:extLst>
            <a:ext uri="{FF2B5EF4-FFF2-40B4-BE49-F238E27FC236}">
              <a16:creationId xmlns:a16="http://schemas.microsoft.com/office/drawing/2014/main" id="{C0056CEA-FF7D-9794-994B-E1F644052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164318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Review candidates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Inspect the ordered manuscript, located findings, evidence, and unresolved issues. Agent output is a proposal.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9</a:t>
            </a:fld>
            <a:endParaRPr lang="en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164318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Accept or reject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An authenticated writer accepts an exact current version. The local harness does not exercise product acceptance.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9"/>
            <a:ext cx="7835900" cy="1040292"/>
          </a:xfrm>
        </p:spPr>
        <p:txBody>
          <a:bodyPr>
            <a:normAutofit/>
          </a:bodyPr>
          <a:lstStyle/>
          <a:p>
            <a:r>
              <a:rPr lang="en-US">
                <a:latin typeface="Inter Medium" panose="020B0604020202020204" charset="0"/>
              </a:rPr>
              <a:t>Human review and the revision loop</a:t>
            </a:r>
            <a:endParaRPr lang="en-US" dirty="0">
              <a:latin typeface="Inter Medium" panose="020B0604020202020204" charset="0"/>
            </a:endParaRP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 txBox="1">
            <a:spLocks/>
          </p:cNvSpPr>
          <p:nvPr/>
        </p:nvSpPr>
        <p:spPr>
          <a:xfrm>
            <a:off x="393700" y="4016975"/>
            <a:ext cx="5537200" cy="16431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Request a revision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Return to Reader and Editors. Keep the approved version. Two rounds maximum.</a:t>
            </a:r>
            <a:endParaRPr lang="en-US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 txBox="1">
            <a:spLocks/>
          </p:cNvSpPr>
          <p:nvPr/>
        </p:nvSpPr>
        <p:spPr>
          <a:xfrm>
            <a:off x="6256618" y="4016975"/>
            <a:ext cx="5537200" cy="16431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Recheck and stop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Check the new version. Cancel or budget exhaustion preserves partial work.</a:t>
            </a:r>
            <a:endParaRPr lang="en-US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7" name="Navigation Previous">
            <a:hlinkClick r:id="rId3" action="ppaction://hlinksldjump"/>
            <a:extLst>
              <a:ext uri="{FF2B5EF4-FFF2-40B4-BE49-F238E27FC236}">
                <a16:creationId xmlns:a16="http://schemas.microsoft.com/office/drawing/2014/main" id="{79837B65-2556-0B15-BDEA-8DA6C29D1E1D}"/>
              </a:ext>
            </a:extLst>
          </p:cNvPr>
          <p:cNvSpPr txBox="1"/>
          <p:nvPr/>
        </p:nvSpPr>
        <p:spPr>
          <a:xfrm>
            <a:off x="393700" y="6261100"/>
            <a:ext cx="9398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Previous</a:t>
            </a:r>
          </a:p>
        </p:txBody>
      </p:sp>
      <p:sp>
        <p:nvSpPr>
          <p:cNvPr id="8" name="Navigation Handoff map">
            <a:hlinkClick r:id="rId4" action="ppaction://hlinksldjump"/>
            <a:extLst>
              <a:ext uri="{FF2B5EF4-FFF2-40B4-BE49-F238E27FC236}">
                <a16:creationId xmlns:a16="http://schemas.microsoft.com/office/drawing/2014/main" id="{B0F70ACC-1133-60FD-EA38-D45830D22832}"/>
              </a:ext>
            </a:extLst>
          </p:cNvPr>
          <p:cNvSpPr txBox="1"/>
          <p:nvPr/>
        </p:nvSpPr>
        <p:spPr>
          <a:xfrm>
            <a:off x="1524000" y="6261100"/>
            <a:ext cx="12700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Handoff map</a:t>
            </a:r>
          </a:p>
        </p:txBody>
      </p:sp>
      <p:sp>
        <p:nvSpPr>
          <p:cNvPr id="9" name="Navigation Next handoff">
            <a:hlinkClick r:id="rId5" action="ppaction://hlinksldjump"/>
            <a:extLst>
              <a:ext uri="{FF2B5EF4-FFF2-40B4-BE49-F238E27FC236}">
                <a16:creationId xmlns:a16="http://schemas.microsoft.com/office/drawing/2014/main" id="{BAFEAD08-A91B-D800-8D95-24378D43FAB1}"/>
              </a:ext>
            </a:extLst>
          </p:cNvPr>
          <p:cNvSpPr txBox="1"/>
          <p:nvPr/>
        </p:nvSpPr>
        <p:spPr>
          <a:xfrm>
            <a:off x="2984500" y="6261100"/>
            <a:ext cx="13335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Next handoff</a:t>
            </a:r>
          </a:p>
        </p:txBody>
      </p:sp>
      <p:sp>
        <p:nvSpPr>
          <p:cNvPr id="12" name="Navigation If a check fails">
            <a:hlinkClick r:id="rId5" action="ppaction://hlinksldjump"/>
            <a:extLst>
              <a:ext uri="{FF2B5EF4-FFF2-40B4-BE49-F238E27FC236}">
                <a16:creationId xmlns:a16="http://schemas.microsoft.com/office/drawing/2014/main" id="{965986A9-4EE7-D8E0-0D22-94F59813BC2B}"/>
              </a:ext>
            </a:extLst>
          </p:cNvPr>
          <p:cNvSpPr txBox="1"/>
          <p:nvPr/>
        </p:nvSpPr>
        <p:spPr>
          <a:xfrm>
            <a:off x="4508500" y="6261100"/>
            <a:ext cx="15240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If a check fails</a:t>
            </a:r>
          </a:p>
        </p:txBody>
      </p:sp>
      <p:sp>
        <p:nvSpPr>
          <p:cNvPr id="13" name="Navigation Request revision: return to Reader">
            <a:hlinkClick r:id="rId6" action="ppaction://hlinksldjump"/>
            <a:extLst>
              <a:ext uri="{FF2B5EF4-FFF2-40B4-BE49-F238E27FC236}">
                <a16:creationId xmlns:a16="http://schemas.microsoft.com/office/drawing/2014/main" id="{17E5B5F8-DFDF-B739-09BD-4739E601BBAD}"/>
              </a:ext>
            </a:extLst>
          </p:cNvPr>
          <p:cNvSpPr txBox="1"/>
          <p:nvPr/>
        </p:nvSpPr>
        <p:spPr>
          <a:xfrm>
            <a:off x="6261100" y="5765800"/>
            <a:ext cx="41910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Request revision: return to Reader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ailure routes">
    <p:spTree>
      <p:nvGrpSpPr>
        <p:cNvPr id="1" name="">
          <a:extLst>
            <a:ext uri="{FF2B5EF4-FFF2-40B4-BE49-F238E27FC236}">
              <a16:creationId xmlns:a16="http://schemas.microsoft.com/office/drawing/2014/main" id="{6A50E8B0-1451-F532-31F1-40A867C49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05DDE8-F6E5-161D-9B9B-71916FAAD3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5B2E1-B583-AF0F-E5A0-E31A89A70F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BBDF9FE-11B3-D661-6C73-AEF8F8362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9"/>
            <a:ext cx="11411838" cy="519592"/>
          </a:xfrm>
        </p:spPr>
        <p:txBody>
          <a:bodyPr>
            <a:normAutofit/>
          </a:bodyPr>
          <a:lstStyle/>
          <a:p>
            <a:r>
              <a:rPr lang="en-US">
                <a:latin typeface="Inter Medium" panose="020B0604020202020204" charset="0"/>
              </a:rPr>
              <a:t>Failure and recovery routes</a:t>
            </a:r>
            <a:endParaRPr lang="en-US" dirty="0">
              <a:latin typeface="Inter Medium" panose="020B060402020202020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1D80037-C168-FBF2-B54D-589D48490D50}"/>
              </a:ext>
            </a:extLst>
          </p:cNvPr>
          <p:cNvSpPr/>
          <p:nvPr/>
        </p:nvSpPr>
        <p:spPr>
          <a:xfrm>
            <a:off x="393700" y="2374900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0E7C2EE-1AC5-1253-8D6A-BFE2CCABE4CC}"/>
              </a:ext>
            </a:extLst>
          </p:cNvPr>
          <p:cNvSpPr/>
          <p:nvPr/>
        </p:nvSpPr>
        <p:spPr>
          <a:xfrm>
            <a:off x="4311650" y="2374900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F07ABEF-E57C-A069-52DA-DAB3B4107433}"/>
              </a:ext>
            </a:extLst>
          </p:cNvPr>
          <p:cNvSpPr/>
          <p:nvPr/>
        </p:nvSpPr>
        <p:spPr>
          <a:xfrm>
            <a:off x="8232297" y="2374900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hlinkClick r:id="rId3" action="ppaction://hlinksldjump"/>
            <a:extLst>
              <a:ext uri="{FF2B5EF4-FFF2-40B4-BE49-F238E27FC236}">
                <a16:creationId xmlns:a16="http://schemas.microsoft.com/office/drawing/2014/main" id="{CD9BC49D-3C96-EBE3-CDD9-750D79584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81" y="3365499"/>
            <a:ext cx="2949339" cy="1981201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Evidence gap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A required source is unavailable.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Return to Research.</a:t>
            </a:r>
            <a:endParaRPr lang="en-US" sz="2000" dirty="0">
              <a:latin typeface="Inter" panose="020B0604020202020204" charset="0"/>
              <a:ea typeface="Inter" panose="02000503000000020004" pitchFamily="2" charset="0"/>
            </a:endParaRPr>
          </a:p>
        </p:txBody>
      </p:sp>
      <p:sp>
        <p:nvSpPr>
          <p:cNvPr id="10" name="Content Placeholder 9">
            <a:hlinkClick r:id="rId4" action="ppaction://hlinksldjump"/>
            <a:extLst>
              <a:ext uri="{FF2B5EF4-FFF2-40B4-BE49-F238E27FC236}">
                <a16:creationId xmlns:a16="http://schemas.microsoft.com/office/drawing/2014/main" id="{7721E237-CC1B-11C2-06F2-0FF62F5271D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27681" y="3365499"/>
            <a:ext cx="2949339" cy="1981201"/>
          </a:xfrm>
        </p:spPr>
        <p:txBody>
          <a:bodyPr>
            <a:noAutofit/>
          </a:bodyPr>
          <a:lstStyle/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2000">
                <a:solidFill>
                  <a:prstClr val="black"/>
                </a:solidFill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Rejected handoff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2000">
                <a:solidFill>
                  <a:prstClr val="black"/>
                </a:solidFill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A source or version is invalid.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2000">
                <a:solidFill>
                  <a:prstClr val="black"/>
                </a:solidFill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Return to Reader. Repair once.</a:t>
            </a:r>
            <a:endParaRPr lang="en-US" sz="2000" dirty="0">
              <a:latin typeface="Inter" panose="020B0604020202020204" charset="0"/>
              <a:ea typeface="Inter" panose="02000503000000020004" pitchFamily="2" charset="0"/>
            </a:endParaRPr>
          </a:p>
        </p:txBody>
      </p:sp>
      <p:sp>
        <p:nvSpPr>
          <p:cNvPr id="11" name="Content Placeholder 10">
            <a:hlinkClick r:id="rId5" action="ppaction://hlinksldjump"/>
            <a:extLst>
              <a:ext uri="{FF2B5EF4-FFF2-40B4-BE49-F238E27FC236}">
                <a16:creationId xmlns:a16="http://schemas.microsoft.com/office/drawing/2014/main" id="{FE34BFB1-1732-6AA8-499C-16BCB107B44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541954" y="3365499"/>
            <a:ext cx="2949339" cy="1981201"/>
          </a:xfrm>
        </p:spPr>
        <p:txBody>
          <a:bodyPr>
            <a:noAutofit/>
          </a:bodyPr>
          <a:lstStyle/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2000">
                <a:solidFill>
                  <a:prstClr val="black"/>
                </a:solidFill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Stale or canceled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2000">
                <a:solidFill>
                  <a:prstClr val="black"/>
                </a:solidFill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Preserve completed work.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2000">
                <a:solidFill>
                  <a:prstClr val="black"/>
                </a:solidFill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Recheck the current version.</a:t>
            </a:r>
            <a:endParaRPr lang="en-US" sz="2000" dirty="0">
              <a:latin typeface="Inter" panose="020B0604020202020204" charset="0"/>
              <a:ea typeface="Inter" panose="02000503000000020004" pitchFamily="2" charset="0"/>
            </a:endParaRPr>
          </a:p>
        </p:txBody>
      </p:sp>
      <p:sp>
        <p:nvSpPr>
          <p:cNvPr id="2" name="Google Shape;303;p29">
            <a:extLst>
              <a:ext uri="{FF2B5EF4-FFF2-40B4-BE49-F238E27FC236}">
                <a16:creationId xmlns:a16="http://schemas.microsoft.com/office/drawing/2014/main" id="{5A63C565-27C7-B453-570C-D6DDD0BFDEBE}"/>
              </a:ext>
            </a:extLst>
          </p:cNvPr>
          <p:cNvSpPr/>
          <p:nvPr/>
        </p:nvSpPr>
        <p:spPr>
          <a:xfrm>
            <a:off x="8549658" y="2759697"/>
            <a:ext cx="230437" cy="256014"/>
          </a:xfrm>
          <a:custGeom>
            <a:avLst/>
            <a:gdLst/>
            <a:ahLst/>
            <a:cxnLst/>
            <a:rect l="l" t="t" r="r" b="b"/>
            <a:pathLst>
              <a:path w="20236" h="20115" extrusionOk="0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59850" tIns="59850" rIns="59850" bIns="59850" anchor="ctr" anchorCtr="0">
            <a:noAutofit/>
          </a:bodyPr>
          <a:lstStyle/>
          <a:p>
            <a:pPr algn="ctr">
              <a:buClr>
                <a:srgbClr val="FFFFFF"/>
              </a:buClr>
              <a:buSzPts val="3801"/>
            </a:pPr>
            <a:endParaRPr sz="3801">
              <a:solidFill>
                <a:srgbClr val="FFFFFF"/>
              </a:solidFill>
              <a:latin typeface="Inter" panose="02000503000000020004" pitchFamily="2" charset="0"/>
              <a:ea typeface="Inter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2" name="Google Shape;304;p29">
            <a:extLst>
              <a:ext uri="{FF2B5EF4-FFF2-40B4-BE49-F238E27FC236}">
                <a16:creationId xmlns:a16="http://schemas.microsoft.com/office/drawing/2014/main" id="{2E71F363-4565-783C-7D45-A77673EFE639}"/>
              </a:ext>
            </a:extLst>
          </p:cNvPr>
          <p:cNvSpPr/>
          <p:nvPr/>
        </p:nvSpPr>
        <p:spPr>
          <a:xfrm>
            <a:off x="4632459" y="2759696"/>
            <a:ext cx="256014" cy="2560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2160"/>
                </a:moveTo>
                <a:cubicBezTo>
                  <a:pt x="15572" y="2160"/>
                  <a:pt x="19440" y="6028"/>
                  <a:pt x="19440" y="10800"/>
                </a:cubicBezTo>
                <a:cubicBezTo>
                  <a:pt x="19440" y="15572"/>
                  <a:pt x="15572" y="19440"/>
                  <a:pt x="10800" y="19440"/>
                </a:cubicBezTo>
                <a:cubicBezTo>
                  <a:pt x="6028" y="19440"/>
                  <a:pt x="2160" y="15572"/>
                  <a:pt x="2160" y="10800"/>
                </a:cubicBezTo>
                <a:cubicBezTo>
                  <a:pt x="2160" y="6028"/>
                  <a:pt x="6028" y="2160"/>
                  <a:pt x="10800" y="2160"/>
                </a:cubicBezTo>
                <a:close/>
                <a:moveTo>
                  <a:pt x="6649" y="12960"/>
                </a:moveTo>
                <a:cubicBezTo>
                  <a:pt x="6375" y="12921"/>
                  <a:pt x="6077" y="12983"/>
                  <a:pt x="5839" y="13162"/>
                </a:cubicBezTo>
                <a:cubicBezTo>
                  <a:pt x="5362" y="13521"/>
                  <a:pt x="5278" y="14204"/>
                  <a:pt x="5636" y="14681"/>
                </a:cubicBezTo>
                <a:cubicBezTo>
                  <a:pt x="8197" y="18089"/>
                  <a:pt x="13437" y="18089"/>
                  <a:pt x="15997" y="14681"/>
                </a:cubicBezTo>
                <a:cubicBezTo>
                  <a:pt x="16356" y="14204"/>
                  <a:pt x="16272" y="13521"/>
                  <a:pt x="15795" y="13162"/>
                </a:cubicBezTo>
                <a:cubicBezTo>
                  <a:pt x="15318" y="12804"/>
                  <a:pt x="14635" y="12888"/>
                  <a:pt x="14276" y="13365"/>
                </a:cubicBezTo>
                <a:cubicBezTo>
                  <a:pt x="12580" y="15623"/>
                  <a:pt x="9054" y="15623"/>
                  <a:pt x="7357" y="13365"/>
                </a:cubicBezTo>
                <a:cubicBezTo>
                  <a:pt x="7178" y="13127"/>
                  <a:pt x="6922" y="12999"/>
                  <a:pt x="6649" y="1296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3801"/>
            </a:pPr>
            <a:endParaRPr sz="3801">
              <a:solidFill>
                <a:srgbClr val="FFFFFF"/>
              </a:solidFill>
              <a:latin typeface="Inter" panose="02000503000000020004" pitchFamily="2" charset="0"/>
              <a:ea typeface="Inter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Google Shape;305;p29">
            <a:extLst>
              <a:ext uri="{FF2B5EF4-FFF2-40B4-BE49-F238E27FC236}">
                <a16:creationId xmlns:a16="http://schemas.microsoft.com/office/drawing/2014/main" id="{5B7D18E2-4EB1-E52F-2BE9-AE2714DAEB1F}"/>
              </a:ext>
            </a:extLst>
          </p:cNvPr>
          <p:cNvSpPr/>
          <p:nvPr/>
        </p:nvSpPr>
        <p:spPr>
          <a:xfrm>
            <a:off x="693808" y="2759696"/>
            <a:ext cx="256014" cy="2560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59850" tIns="59850" rIns="59850" bIns="59850" anchor="ctr" anchorCtr="0">
            <a:noAutofit/>
          </a:bodyPr>
          <a:lstStyle/>
          <a:p>
            <a:pPr algn="ctr">
              <a:buClr>
                <a:srgbClr val="FFFFFF"/>
              </a:buClr>
              <a:buSzPts val="3801"/>
            </a:pPr>
            <a:endParaRPr sz="3801">
              <a:solidFill>
                <a:srgbClr val="FFFFFF"/>
              </a:solidFill>
              <a:latin typeface="Inter" panose="02000503000000020004" pitchFamily="2" charset="0"/>
              <a:ea typeface="Inter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D7B27847-7526-0A76-DFBA-302A5A7697DE}"/>
              </a:ext>
            </a:extLst>
          </p:cNvPr>
          <p:cNvSpPr txBox="1">
            <a:spLocks/>
          </p:cNvSpPr>
          <p:nvPr/>
        </p:nvSpPr>
        <p:spPr>
          <a:xfrm>
            <a:off x="400939" y="1037594"/>
            <a:ext cx="11404599" cy="1047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>
                <a:solidFill>
                  <a:prstClr val="black"/>
                </a:solidFill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A failed check stops its dependent handoff. Click a route below to return to the responsible stage.</a:t>
            </a:r>
            <a:endParaRPr lang="en-US" sz="1800" dirty="0">
              <a:solidFill>
                <a:prstClr val="black"/>
              </a:solidFill>
              <a:latin typeface="Inter" panose="020B0604020202020204" charset="0"/>
              <a:ea typeface="Inter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5" name="Navigation Previous">
            <a:hlinkClick r:id="rId6" action="ppaction://hlinksldjump"/>
            <a:extLst>
              <a:ext uri="{FF2B5EF4-FFF2-40B4-BE49-F238E27FC236}">
                <a16:creationId xmlns:a16="http://schemas.microsoft.com/office/drawing/2014/main" id="{D8470CD4-B5E5-4B04-8E1D-59EEC08BEB32}"/>
              </a:ext>
            </a:extLst>
          </p:cNvPr>
          <p:cNvSpPr txBox="1"/>
          <p:nvPr/>
        </p:nvSpPr>
        <p:spPr>
          <a:xfrm>
            <a:off x="393700" y="6261100"/>
            <a:ext cx="9398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Previous</a:t>
            </a:r>
          </a:p>
        </p:txBody>
      </p:sp>
      <p:sp>
        <p:nvSpPr>
          <p:cNvPr id="16" name="Navigation Handoff map">
            <a:hlinkClick r:id="rId7" action="ppaction://hlinksldjump"/>
            <a:extLst>
              <a:ext uri="{FF2B5EF4-FFF2-40B4-BE49-F238E27FC236}">
                <a16:creationId xmlns:a16="http://schemas.microsoft.com/office/drawing/2014/main" id="{5A6E98BB-3E2A-CE46-2E90-67EE3EA36973}"/>
              </a:ext>
            </a:extLst>
          </p:cNvPr>
          <p:cNvSpPr txBox="1"/>
          <p:nvPr/>
        </p:nvSpPr>
        <p:spPr>
          <a:xfrm>
            <a:off x="1524000" y="6261100"/>
            <a:ext cx="12700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Handoff map</a:t>
            </a:r>
          </a:p>
        </p:txBody>
      </p:sp>
      <p:sp>
        <p:nvSpPr>
          <p:cNvPr id="17" name="Navigation Next handoff">
            <a:hlinkClick r:id="rId8" action="ppaction://hlinksldjump"/>
            <a:extLst>
              <a:ext uri="{FF2B5EF4-FFF2-40B4-BE49-F238E27FC236}">
                <a16:creationId xmlns:a16="http://schemas.microsoft.com/office/drawing/2014/main" id="{3E71CE5D-BC19-5BF7-A3C8-6B12DB5464B4}"/>
              </a:ext>
            </a:extLst>
          </p:cNvPr>
          <p:cNvSpPr txBox="1"/>
          <p:nvPr/>
        </p:nvSpPr>
        <p:spPr>
          <a:xfrm>
            <a:off x="2984500" y="6261100"/>
            <a:ext cx="13335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Next handoff</a:t>
            </a:r>
          </a:p>
        </p:txBody>
      </p:sp>
    </p:spTree>
    <p:extLst>
      <p:ext uri="{BB962C8B-B14F-4D97-AF65-F5344CB8AC3E}">
        <p14:creationId xmlns:p14="http://schemas.microsoft.com/office/powerpoint/2010/main" val="3756368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erified execution">
    <p:spTree>
      <p:nvGrpSpPr>
        <p:cNvPr id="1" name="Shape 531">
          <a:extLst>
            <a:ext uri="{FF2B5EF4-FFF2-40B4-BE49-F238E27FC236}">
              <a16:creationId xmlns:a16="http://schemas.microsoft.com/office/drawing/2014/main" id="{4FC3DA96-FA11-E590-58F8-D31A3308D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69FA6D2-2D50-9DC8-E5DD-C4C1EAE88DC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11</a:t>
            </a:fld>
            <a:endParaRPr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E7B2D062-27A4-4C85-912F-42FC88B4DB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9448800" cy="366919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sz="4800">
                <a:latin typeface="Inter Medium" panose="020B0604020202020204" charset="0"/>
              </a:rPr>
              <a:t>Three READ agents.</a:t>
            </a:r>
            <a:br>
              <a:rPr lang="en-US" sz="4800">
                <a:latin typeface="Inter Medium" panose="020B0604020202020204" charset="0"/>
              </a:rPr>
            </a:br>
            <a:r>
              <a:rPr lang="en-US" sz="4800">
                <a:latin typeface="Inter Medium" panose="020B0604020202020204" charset="0"/>
              </a:rPr>
              <a:t>Four live Claude calls.</a:t>
            </a:r>
            <a:br>
              <a:rPr lang="en-US" sz="4800">
                <a:latin typeface="Inter Medium" panose="020B0604020202020204" charset="0"/>
              </a:rPr>
            </a:br>
            <a:r>
              <a:rPr lang="en-US" sz="4800">
                <a:latin typeface="Inter Medium" panose="020B0604020202020204" charset="0"/>
              </a:rPr>
              <a:t>95 of 95 tests passed.</a:t>
            </a:r>
            <a:endParaRPr sz="4800" dirty="0">
              <a:latin typeface="Inter Medium" panose="020B0604020202020204" charset="0"/>
            </a:endParaRPr>
          </a:p>
        </p:txBody>
      </p:sp>
      <p:sp>
        <p:nvSpPr>
          <p:cNvPr id="4" name="Content Placeholder 15">
            <a:extLst>
              <a:ext uri="{FF2B5EF4-FFF2-40B4-BE49-F238E27FC236}">
                <a16:creationId xmlns:a16="http://schemas.microsoft.com/office/drawing/2014/main" id="{45D116A3-5F26-E766-2FA6-F7F59839F29D}"/>
              </a:ext>
            </a:extLst>
          </p:cNvPr>
          <p:cNvSpPr txBox="1">
            <a:spLocks/>
          </p:cNvSpPr>
          <p:nvPr/>
        </p:nvSpPr>
        <p:spPr>
          <a:xfrm>
            <a:off x="4305300" y="4826000"/>
            <a:ext cx="3568700" cy="1168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Verified run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Four live READ calls: Research, Reader, and two Consistency checks.</a:t>
            </a:r>
            <a:endParaRPr lang="en-US" sz="1600" dirty="0">
              <a:latin typeface="Inter" panose="020B0604020202020204" charset="0"/>
              <a:ea typeface="Inter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7F79475-D2E6-1673-5BE0-6CAB7E3D8E0C}"/>
              </a:ext>
            </a:extLst>
          </p:cNvPr>
          <p:cNvSpPr txBox="1">
            <a:spLocks/>
          </p:cNvSpPr>
          <p:nvPr/>
        </p:nvSpPr>
        <p:spPr>
          <a:xfrm>
            <a:off x="8229600" y="4826000"/>
            <a:ext cx="3568700" cy="1168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600">
                <a:solidFill>
                  <a:prstClr val="black"/>
                </a:solidFill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One scenario passed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600">
                <a:solidFill>
                  <a:prstClr val="black"/>
                </a:solidFill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Providers and WRITE were fixtures. Reliability remains unmeasured.</a:t>
            </a:r>
            <a:endParaRPr lang="en-US" sz="1600" dirty="0">
              <a:solidFill>
                <a:prstClr val="black"/>
              </a:solidFill>
              <a:latin typeface="Inter" panose="020B0604020202020204" charset="0"/>
              <a:ea typeface="Inter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8" name="Google Shape;340;p61">
            <a:extLst>
              <a:ext uri="{FF2B5EF4-FFF2-40B4-BE49-F238E27FC236}">
                <a16:creationId xmlns:a16="http://schemas.microsoft.com/office/drawing/2014/main" id="{E99A300F-A62D-2D4C-A8CC-7A2B40C7F19C}"/>
              </a:ext>
            </a:extLst>
          </p:cNvPr>
          <p:cNvSpPr/>
          <p:nvPr/>
        </p:nvSpPr>
        <p:spPr>
          <a:xfrm>
            <a:off x="4305300" y="4356100"/>
            <a:ext cx="257187" cy="2570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" name="Google Shape;340;p61">
            <a:extLst>
              <a:ext uri="{FF2B5EF4-FFF2-40B4-BE49-F238E27FC236}">
                <a16:creationId xmlns:a16="http://schemas.microsoft.com/office/drawing/2014/main" id="{9715BEEB-6A24-7E57-79F9-6DC76158D290}"/>
              </a:ext>
            </a:extLst>
          </p:cNvPr>
          <p:cNvSpPr/>
          <p:nvPr/>
        </p:nvSpPr>
        <p:spPr>
          <a:xfrm>
            <a:off x="8224158" y="4356100"/>
            <a:ext cx="257187" cy="2570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C1C27E6-B24A-134D-A33B-2CE33CAE57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3" name="Navigation Previous">
            <a:hlinkClick r:id="rId3" action="ppaction://hlinksldjump"/>
            <a:extLst>
              <a:ext uri="{FF2B5EF4-FFF2-40B4-BE49-F238E27FC236}">
                <a16:creationId xmlns:a16="http://schemas.microsoft.com/office/drawing/2014/main" id="{A6E2C8E3-85F3-A22D-50D8-B3E4D00965F1}"/>
              </a:ext>
            </a:extLst>
          </p:cNvPr>
          <p:cNvSpPr txBox="1"/>
          <p:nvPr/>
        </p:nvSpPr>
        <p:spPr>
          <a:xfrm>
            <a:off x="393700" y="6261100"/>
            <a:ext cx="9398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Previous</a:t>
            </a:r>
          </a:p>
        </p:txBody>
      </p:sp>
      <p:sp>
        <p:nvSpPr>
          <p:cNvPr id="5" name="Navigation Handoff map">
            <a:hlinkClick r:id="rId4" action="ppaction://hlinksldjump"/>
            <a:extLst>
              <a:ext uri="{FF2B5EF4-FFF2-40B4-BE49-F238E27FC236}">
                <a16:creationId xmlns:a16="http://schemas.microsoft.com/office/drawing/2014/main" id="{4473B9D8-9D71-53EF-BF73-3F13DEAD865C}"/>
              </a:ext>
            </a:extLst>
          </p:cNvPr>
          <p:cNvSpPr txBox="1"/>
          <p:nvPr/>
        </p:nvSpPr>
        <p:spPr>
          <a:xfrm>
            <a:off x="1524000" y="6261100"/>
            <a:ext cx="12700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Handoff map</a:t>
            </a:r>
          </a:p>
        </p:txBody>
      </p:sp>
      <p:sp>
        <p:nvSpPr>
          <p:cNvPr id="6" name="Navigation Next handoff">
            <a:hlinkClick r:id="rId5" action="ppaction://hlinksldjump"/>
            <a:extLst>
              <a:ext uri="{FF2B5EF4-FFF2-40B4-BE49-F238E27FC236}">
                <a16:creationId xmlns:a16="http://schemas.microsoft.com/office/drawing/2014/main" id="{DB5319A6-9F61-3276-4B0B-A3F17065AAE2}"/>
              </a:ext>
            </a:extLst>
          </p:cNvPr>
          <p:cNvSpPr txBox="1"/>
          <p:nvPr/>
        </p:nvSpPr>
        <p:spPr>
          <a:xfrm>
            <a:off x="2984500" y="6261100"/>
            <a:ext cx="13335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Next handoff</a:t>
            </a:r>
          </a:p>
        </p:txBody>
      </p:sp>
    </p:spTree>
    <p:extLst>
      <p:ext uri="{BB962C8B-B14F-4D97-AF65-F5344CB8AC3E}">
        <p14:creationId xmlns:p14="http://schemas.microsoft.com/office/powerpoint/2010/main" val="473520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wnership and tools"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1"/>
          <p:cNvSpPr txBox="1">
            <a:spLocks noGrp="1"/>
          </p:cNvSpPr>
          <p:nvPr>
            <p:ph idx="1"/>
          </p:nvPr>
        </p:nvSpPr>
        <p:spPr>
          <a:xfrm>
            <a:off x="393700" y="4013200"/>
            <a:ext cx="3568700" cy="19812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2000">
                <a:solidFill>
                  <a:prstClr val="black"/>
                </a:solidFill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Manny READ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2000">
                <a:solidFill>
                  <a:prstClr val="black"/>
                </a:solidFill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Read-only analysis. Fixed tools. Validate sources, versions, and output before handoff.</a:t>
            </a:r>
            <a:endParaRPr sz="2000" dirty="0">
              <a:solidFill>
                <a:prstClr val="black"/>
              </a:solidFill>
              <a:latin typeface="Inter" panose="020B0604020202020204" charset="0"/>
              <a:ea typeface="Inter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556" name="Google Shape;556;p61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12</a:t>
            </a:fld>
            <a:endParaRPr dirty="0">
              <a:sym typeface="OpenAI Sans"/>
            </a:endParaRPr>
          </a:p>
        </p:txBody>
      </p:sp>
      <p:sp>
        <p:nvSpPr>
          <p:cNvPr id="559" name="Google Shape;559;p61"/>
          <p:cNvSpPr txBox="1">
            <a:spLocks noGrp="1"/>
          </p:cNvSpPr>
          <p:nvPr>
            <p:ph idx="10"/>
          </p:nvPr>
        </p:nvSpPr>
        <p:spPr>
          <a:xfrm>
            <a:off x="4318000" y="4013200"/>
            <a:ext cx="3568700" cy="19812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2000">
                <a:solidFill>
                  <a:prstClr val="black"/>
                </a:solidFill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Justin WRITE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2000">
                <a:solidFill>
                  <a:prstClr val="black"/>
                </a:solidFill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Minimal connectors only. Keep peer prompts, design, behavior, and tests unchanged.</a:t>
            </a:r>
            <a:endParaRPr sz="2000" dirty="0">
              <a:solidFill>
                <a:prstClr val="black"/>
              </a:solidFill>
              <a:latin typeface="Inter" panose="020B0604020202020204" charset="0"/>
              <a:ea typeface="Inter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560" name="Google Shape;560;p61"/>
          <p:cNvSpPr txBox="1">
            <a:spLocks noGrp="1"/>
          </p:cNvSpPr>
          <p:nvPr>
            <p:ph idx="11"/>
          </p:nvPr>
        </p:nvSpPr>
        <p:spPr>
          <a:xfrm>
            <a:off x="8232273" y="4013200"/>
            <a:ext cx="3568700" cy="19812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2000">
                <a:solidFill>
                  <a:prstClr val="black"/>
                </a:solidFill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Shared coordinator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2000">
                <a:solidFill>
                  <a:prstClr val="black"/>
                </a:solidFill>
                <a:latin typeface="Inter" panose="020B0604020202020204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Immutable local snapshots and saved reports. Production acceptance and SQL remain separate.</a:t>
            </a:r>
            <a:endParaRPr lang="en-US" sz="2000" dirty="0">
              <a:solidFill>
                <a:prstClr val="black"/>
              </a:solidFill>
              <a:latin typeface="Inter" panose="020B0604020202020204" charset="0"/>
              <a:ea typeface="Inter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557" name="Google Shape;557;p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>
                <a:latin typeface="Inter Medium" panose="020B0604020202020204" charset="0"/>
              </a:rPr>
              <a:t>Ownership, tools, and shared state</a:t>
            </a:r>
            <a:endParaRPr dirty="0">
              <a:latin typeface="Inter Medium" panose="020B0604020202020204" charset="0"/>
            </a:endParaRPr>
          </a:p>
        </p:txBody>
      </p:sp>
      <p:sp>
        <p:nvSpPr>
          <p:cNvPr id="561" name="Google Shape;561;p61" descr="Keep or replace with another icon."/>
          <p:cNvSpPr/>
          <p:nvPr/>
        </p:nvSpPr>
        <p:spPr>
          <a:xfrm>
            <a:off x="4279904" y="3382303"/>
            <a:ext cx="315580" cy="353873"/>
          </a:xfrm>
          <a:custGeom>
            <a:avLst/>
            <a:gdLst/>
            <a:ahLst/>
            <a:cxnLst/>
            <a:rect l="l" t="t" r="r" b="b"/>
            <a:pathLst>
              <a:path w="20236" h="20115" extrusionOk="0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algn="ctr">
              <a:buClr>
                <a:srgbClr val="FFFFFF"/>
              </a:buClr>
              <a:buSzPts val="4300"/>
            </a:pPr>
            <a:endParaRPr sz="4300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562" name="Google Shape;562;p61" descr="Keep or replace with another icon."/>
          <p:cNvSpPr/>
          <p:nvPr/>
        </p:nvSpPr>
        <p:spPr>
          <a:xfrm>
            <a:off x="401398" y="3378212"/>
            <a:ext cx="327078" cy="362074"/>
          </a:xfrm>
          <a:custGeom>
            <a:avLst/>
            <a:gdLst/>
            <a:ahLst/>
            <a:cxnLst/>
            <a:rect l="l" t="t" r="r" b="b"/>
            <a:pathLst>
              <a:path w="21600" h="21333" extrusionOk="0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algn="ctr">
              <a:buClr>
                <a:srgbClr val="FFFFFF"/>
              </a:buClr>
              <a:buSzPts val="4300"/>
            </a:pPr>
            <a:endParaRPr sz="4300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563" name="Google Shape;563;p61" descr="Keep or replace with another icon."/>
          <p:cNvSpPr/>
          <p:nvPr/>
        </p:nvSpPr>
        <p:spPr>
          <a:xfrm>
            <a:off x="8231597" y="3406849"/>
            <a:ext cx="338580" cy="27091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algn="ctr">
              <a:buClr>
                <a:srgbClr val="FFFFFF"/>
              </a:buClr>
              <a:buSzPts val="4300"/>
            </a:pPr>
            <a:endParaRPr sz="4300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487E6C-E679-F541-4B4C-695C244D8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3" name="Navigation Previous">
            <a:hlinkClick r:id="rId3" action="ppaction://hlinksldjump"/>
            <a:extLst>
              <a:ext uri="{FF2B5EF4-FFF2-40B4-BE49-F238E27FC236}">
                <a16:creationId xmlns:a16="http://schemas.microsoft.com/office/drawing/2014/main" id="{0EBFCE51-1A53-D56C-3835-D69B04708FE6}"/>
              </a:ext>
            </a:extLst>
          </p:cNvPr>
          <p:cNvSpPr txBox="1"/>
          <p:nvPr/>
        </p:nvSpPr>
        <p:spPr>
          <a:xfrm>
            <a:off x="393700" y="6261100"/>
            <a:ext cx="9398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Previous</a:t>
            </a:r>
          </a:p>
        </p:txBody>
      </p:sp>
      <p:sp>
        <p:nvSpPr>
          <p:cNvPr id="4" name="Navigation Handoff map">
            <a:hlinkClick r:id="rId4" action="ppaction://hlinksldjump"/>
            <a:extLst>
              <a:ext uri="{FF2B5EF4-FFF2-40B4-BE49-F238E27FC236}">
                <a16:creationId xmlns:a16="http://schemas.microsoft.com/office/drawing/2014/main" id="{230775D0-B0FC-13F7-183E-2280308DDAA4}"/>
              </a:ext>
            </a:extLst>
          </p:cNvPr>
          <p:cNvSpPr txBox="1"/>
          <p:nvPr/>
        </p:nvSpPr>
        <p:spPr>
          <a:xfrm>
            <a:off x="1524000" y="6261100"/>
            <a:ext cx="12700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Handoff map</a:t>
            </a:r>
          </a:p>
        </p:txBody>
      </p:sp>
      <p:sp>
        <p:nvSpPr>
          <p:cNvPr id="5" name="Navigation Next handoff">
            <a:hlinkClick r:id="rId5" action="ppaction://hlinksldjump"/>
            <a:extLst>
              <a:ext uri="{FF2B5EF4-FFF2-40B4-BE49-F238E27FC236}">
                <a16:creationId xmlns:a16="http://schemas.microsoft.com/office/drawing/2014/main" id="{AA7C7F1D-67C1-C67A-4C0D-C45BF92386F8}"/>
              </a:ext>
            </a:extLst>
          </p:cNvPr>
          <p:cNvSpPr txBox="1"/>
          <p:nvPr/>
        </p:nvSpPr>
        <p:spPr>
          <a:xfrm>
            <a:off x="2984500" y="6261100"/>
            <a:ext cx="13335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Next handoff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play and run guide">
    <p:spTree>
      <p:nvGrpSpPr>
        <p:cNvPr id="1" name="">
          <a:extLst>
            <a:ext uri="{FF2B5EF4-FFF2-40B4-BE49-F238E27FC236}">
              <a16:creationId xmlns:a16="http://schemas.microsoft.com/office/drawing/2014/main" id="{B9DCAD7E-82FE-F00F-0BFF-42135AC4C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A4A8C5-2601-85AD-3D1E-8079D58F0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6339" y="449662"/>
            <a:ext cx="6730425" cy="2401447"/>
          </a:xfrm>
        </p:spPr>
        <p:txBody>
          <a:bodyPr anchor="b">
            <a:noAutofit/>
          </a:bodyPr>
          <a:lstStyle/>
          <a:p>
            <a:r>
              <a:rPr lang="en-US" sz="7200">
                <a:solidFill>
                  <a:schemeClr val="accent6">
                    <a:lumMod val="75000"/>
                  </a:schemeClr>
                </a:solidFill>
                <a:latin typeface="Inter SemiBold" panose="020B0604020202020204" charset="0"/>
              </a:rPr>
              <a:t>Trace the loop</a:t>
            </a:r>
            <a:endParaRPr lang="en-US" sz="7200" dirty="0">
              <a:solidFill>
                <a:schemeClr val="accent6">
                  <a:lumMod val="75000"/>
                </a:schemeClr>
              </a:solidFill>
              <a:latin typeface="Inter SemiBold" panose="020B060402020202020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68A511-4B27-6E46-7765-2247D8E6C2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669" y="3564938"/>
            <a:ext cx="3758374" cy="614676"/>
          </a:xfrm>
        </p:spPr>
        <p:txBody>
          <a:bodyPr>
            <a:noAutofit/>
          </a:bodyPr>
          <a:lstStyle/>
          <a:p>
            <a:r>
              <a:rPr lang="en-US" sz="1800">
                <a:latin typeface="Inter" panose="020B0604020202020204" charset="0"/>
              </a:rPr>
              <a:t>Click the map to replay.</a:t>
            </a:r>
          </a:p>
          <a:p>
            <a:r>
              <a:rPr lang="en-US" sz="1800">
                <a:latin typeface="Inter" panose="020B0604020202020204" charset="0"/>
              </a:rPr>
              <a:t>Slide Show activates links.</a:t>
            </a:r>
            <a:endParaRPr lang="en-US" sz="1800" dirty="0">
              <a:latin typeface="Inter" panose="020B060402020202020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7725E9-20F2-2EAF-9816-0D2FEFF0929F}"/>
              </a:ext>
            </a:extLst>
          </p:cNvPr>
          <p:cNvSpPr txBox="1"/>
          <p:nvPr/>
        </p:nvSpPr>
        <p:spPr>
          <a:xfrm>
            <a:off x="6842234" y="-52341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B2C8E6-2382-F1A6-A0C1-A7364007A57C}"/>
              </a:ext>
            </a:extLst>
          </p:cNvPr>
          <p:cNvSpPr txBox="1"/>
          <p:nvPr/>
        </p:nvSpPr>
        <p:spPr>
          <a:xfrm>
            <a:off x="-2554014" y="-30900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298441-5F03-83E9-20CA-E905E3D7B8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645" b="61469"/>
          <a:stretch>
            <a:fillRect/>
          </a:stretch>
        </p:blipFill>
        <p:spPr>
          <a:xfrm>
            <a:off x="0" y="4763386"/>
            <a:ext cx="12192000" cy="2094614"/>
          </a:xfrm>
          <a:prstGeom prst="rect">
            <a:avLst/>
          </a:prstGeom>
        </p:spPr>
      </p:pic>
      <p:sp>
        <p:nvSpPr>
          <p:cNvPr id="3" name="Navigation Previous">
            <a:hlinkClick r:id="rId4" action="ppaction://hlinksldjump"/>
            <a:extLst>
              <a:ext uri="{FF2B5EF4-FFF2-40B4-BE49-F238E27FC236}">
                <a16:creationId xmlns:a16="http://schemas.microsoft.com/office/drawing/2014/main" id="{8F335B15-A6E9-D1DC-D26F-95F956E39FA9}"/>
              </a:ext>
            </a:extLst>
          </p:cNvPr>
          <p:cNvSpPr txBox="1"/>
          <p:nvPr/>
        </p:nvSpPr>
        <p:spPr>
          <a:xfrm>
            <a:off x="393700" y="6261100"/>
            <a:ext cx="9398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Previous</a:t>
            </a:r>
          </a:p>
        </p:txBody>
      </p:sp>
      <p:sp>
        <p:nvSpPr>
          <p:cNvPr id="7" name="Navigation Handoff map">
            <a:hlinkClick r:id="rId5" action="ppaction://hlinksldjump"/>
            <a:extLst>
              <a:ext uri="{FF2B5EF4-FFF2-40B4-BE49-F238E27FC236}">
                <a16:creationId xmlns:a16="http://schemas.microsoft.com/office/drawing/2014/main" id="{112ED415-4150-21E1-8767-F44B10F5E36E}"/>
              </a:ext>
            </a:extLst>
          </p:cNvPr>
          <p:cNvSpPr txBox="1"/>
          <p:nvPr/>
        </p:nvSpPr>
        <p:spPr>
          <a:xfrm>
            <a:off x="1524000" y="6261100"/>
            <a:ext cx="1270000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sz="1200" u="sng">
                <a:solidFill>
                  <a:srgbClr val="2D5B94"/>
                </a:solidFill>
                <a:latin typeface="Inter" panose="020B0604020202020204" charset="0"/>
              </a:rPr>
              <a:t>Handoff map</a:t>
            </a:r>
          </a:p>
        </p:txBody>
      </p:sp>
    </p:spTree>
    <p:extLst>
      <p:ext uri="{BB962C8B-B14F-4D97-AF65-F5344CB8AC3E}">
        <p14:creationId xmlns:p14="http://schemas.microsoft.com/office/powerpoint/2010/main" val="234694970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1955</TotalTime>
  <Words>1322</Words>
  <Application>Microsoft Office PowerPoint</Application>
  <PresentationFormat>Widescreen</PresentationFormat>
  <Paragraphs>190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Inter</vt:lpstr>
      <vt:lpstr>Inter SemiBold</vt:lpstr>
      <vt:lpstr>Inter Medium</vt:lpstr>
      <vt:lpstr>Aptos</vt:lpstr>
      <vt:lpstr>Arial</vt:lpstr>
      <vt:lpstr>OpenAI Sans</vt:lpstr>
      <vt:lpstr>Helvetica Neue Medium</vt:lpstr>
      <vt:lpstr>Helvetica Neue</vt:lpstr>
      <vt:lpstr>Default Codex Theme</vt:lpstr>
      <vt:lpstr>READ agents &amp; handoffs</vt:lpstr>
      <vt:lpstr>The interactive handoff map</vt:lpstr>
      <vt:lpstr>Writer input before research</vt:lpstr>
      <vt:lpstr>Research handoff</vt:lpstr>
      <vt:lpstr>Planning and the chapter barrier</vt:lpstr>
      <vt:lpstr>Reader handoff to both Editors</vt:lpstr>
      <vt:lpstr>Two independent editorial proposals</vt:lpstr>
      <vt:lpstr>Consistency checks each exact version</vt:lpstr>
      <vt:lpstr>Human review and the revision loop</vt:lpstr>
      <vt:lpstr>Failure and recovery routes</vt:lpstr>
      <vt:lpstr>Three READ agents. Four live Claude calls. 95 of 95 tests passed.</vt:lpstr>
      <vt:lpstr>Ownership, tools, and shared state</vt:lpstr>
      <vt:lpstr>Trace the loop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Emmanuel De Jesus</cp:lastModifiedBy>
  <cp:revision>1</cp:revision>
  <dcterms:modified xsi:type="dcterms:W3CDTF">2026-10-26T05:49:52Z</dcterms:modified>
</cp:coreProperties>
</file>